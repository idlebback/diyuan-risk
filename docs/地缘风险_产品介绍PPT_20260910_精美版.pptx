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30750756c647bc" /><Relationship Type="http://schemas.openxmlformats.org/officeDocument/2006/relationships/extended-properties" Target="/docProps/app.xml" Id="R0d489a04f5f94ba5" /><Relationship Type="http://schemas.openxmlformats.org/officeDocument/2006/relationships/officeDocument" Target="/ppt/presentation.xml" Id="Rc198291f6dd74e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b8ee7d053f489f"/>
  </p:sldMasterIdLst>
  <p:notesMasterIdLst>
    <p:notesMasterId xmlns:r="http://schemas.openxmlformats.org/officeDocument/2006/relationships" r:id="R804e9b5cf8314427"/>
  </p:notesMasterIdLst>
  <p:sldIdLst>
    <p:sldId xmlns:r="http://schemas.openxmlformats.org/officeDocument/2006/relationships" id="256" r:id="R8418dc9b36ef4a83"/>
    <p:sldId xmlns:r="http://schemas.openxmlformats.org/officeDocument/2006/relationships" id="257" r:id="R415bf459ea694730"/>
    <p:sldId xmlns:r="http://schemas.openxmlformats.org/officeDocument/2006/relationships" id="258" r:id="Rf8bfad8e5d7741df"/>
    <p:sldId xmlns:r="http://schemas.openxmlformats.org/officeDocument/2006/relationships" id="259" r:id="R14c964e13eb8422b"/>
    <p:sldId xmlns:r="http://schemas.openxmlformats.org/officeDocument/2006/relationships" id="260" r:id="Rf41e9d0a903c41ee"/>
    <p:sldId xmlns:r="http://schemas.openxmlformats.org/officeDocument/2006/relationships" id="261" r:id="R45db824e057446d6"/>
    <p:sldId xmlns:r="http://schemas.openxmlformats.org/officeDocument/2006/relationships" id="262" r:id="Rddd23e7020e4483b"/>
    <p:sldId xmlns:r="http://schemas.openxmlformats.org/officeDocument/2006/relationships" id="263" r:id="Re101e53983464e8f"/>
    <p:sldId xmlns:r="http://schemas.openxmlformats.org/officeDocument/2006/relationships" id="264" r:id="R784749b06d7c4949"/>
    <p:sldId xmlns:r="http://schemas.openxmlformats.org/officeDocument/2006/relationships" id="265" r:id="R3f3f97e2a26f4271"/>
    <p:sldId xmlns:r="http://schemas.openxmlformats.org/officeDocument/2006/relationships" id="266" r:id="R08497aff5e97413a"/>
    <p:sldId xmlns:r="http://schemas.openxmlformats.org/officeDocument/2006/relationships" id="267" r:id="R6a3249ff74ba419b"/>
    <p:sldId xmlns:r="http://schemas.openxmlformats.org/officeDocument/2006/relationships" id="268" r:id="R74402d53aa5047c3"/>
    <p:sldId xmlns:r="http://schemas.openxmlformats.org/officeDocument/2006/relationships" id="269" r:id="R928c4806b0b848e9"/>
    <p:sldId xmlns:r="http://schemas.openxmlformats.org/officeDocument/2006/relationships" id="270" r:id="Rd206b52566394349"/>
    <p:sldId xmlns:r="http://schemas.openxmlformats.org/officeDocument/2006/relationships" id="271" r:id="Rb03d46bb151448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e4292f76de418e" /><Relationship Type="http://schemas.openxmlformats.org/officeDocument/2006/relationships/slideMaster" Target="/ppt/slideMasters/slideMaster1.xml" Id="R03b8ee7d053f489f" /><Relationship Type="http://schemas.openxmlformats.org/officeDocument/2006/relationships/notesMaster" Target="/ppt/notesMasters/notesMaster1.xml" Id="R804e9b5cf8314427" /><Relationship Type="http://schemas.openxmlformats.org/officeDocument/2006/relationships/presProps" Target="/ppt/presProps.xml" Id="R9c23de2ebf144dd8" /><Relationship Type="http://schemas.openxmlformats.org/officeDocument/2006/relationships/tableStyles" Target="/ppt/tableStyles.xml" Id="R007b9206b14243be" /><Relationship Type="http://schemas.openxmlformats.org/officeDocument/2006/relationships/slide" Target="/ppt/slides/slide1.xml" Id="R8418dc9b36ef4a83" /><Relationship Type="http://schemas.openxmlformats.org/officeDocument/2006/relationships/slide" Target="/ppt/slides/slide2.xml" Id="R415bf459ea694730" /><Relationship Type="http://schemas.openxmlformats.org/officeDocument/2006/relationships/slide" Target="/ppt/slides/slide3.xml" Id="Rf8bfad8e5d7741df" /><Relationship Type="http://schemas.openxmlformats.org/officeDocument/2006/relationships/slide" Target="/ppt/slides/slide4.xml" Id="R14c964e13eb8422b" /><Relationship Type="http://schemas.openxmlformats.org/officeDocument/2006/relationships/slide" Target="/ppt/slides/slide5.xml" Id="Rf41e9d0a903c41ee" /><Relationship Type="http://schemas.openxmlformats.org/officeDocument/2006/relationships/slide" Target="/ppt/slides/slide6.xml" Id="R45db824e057446d6" /><Relationship Type="http://schemas.openxmlformats.org/officeDocument/2006/relationships/slide" Target="/ppt/slides/slide7.xml" Id="Rddd23e7020e4483b" /><Relationship Type="http://schemas.openxmlformats.org/officeDocument/2006/relationships/slide" Target="/ppt/slides/slide8.xml" Id="Re101e53983464e8f" /><Relationship Type="http://schemas.openxmlformats.org/officeDocument/2006/relationships/slide" Target="/ppt/slides/slide9.xml" Id="R784749b06d7c4949" /><Relationship Type="http://schemas.openxmlformats.org/officeDocument/2006/relationships/slide" Target="/ppt/slides/slide10.xml" Id="R3f3f97e2a26f4271" /><Relationship Type="http://schemas.openxmlformats.org/officeDocument/2006/relationships/slide" Target="/ppt/slides/slide11.xml" Id="R08497aff5e97413a" /><Relationship Type="http://schemas.openxmlformats.org/officeDocument/2006/relationships/slide" Target="/ppt/slides/slide12.xml" Id="R6a3249ff74ba419b" /><Relationship Type="http://schemas.openxmlformats.org/officeDocument/2006/relationships/slide" Target="/ppt/slides/slide13.xml" Id="R74402d53aa5047c3" /><Relationship Type="http://schemas.openxmlformats.org/officeDocument/2006/relationships/slide" Target="/ppt/slides/slide14.xml" Id="R928c4806b0b848e9" /><Relationship Type="http://schemas.openxmlformats.org/officeDocument/2006/relationships/slide" Target="/ppt/slides/slide15.xml" Id="Rd206b52566394349" /><Relationship Type="http://schemas.openxmlformats.org/officeDocument/2006/relationships/slide" Target="/ppt/slides/slide16.xml" Id="Rb03d46bb151448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85c17efb504a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19a4fac66147e1" /><Relationship Type="http://schemas.openxmlformats.org/officeDocument/2006/relationships/notesMaster" Target="/ppt/notesMasters/notesMaster1.xml" Id="R5d3ae39267754a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30c3fe40664621" /><Relationship Type="http://schemas.openxmlformats.org/officeDocument/2006/relationships/notesMaster" Target="/ppt/notesMasters/notesMaster1.xml" Id="R45a915c000434b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3942ba1dff4e31" /><Relationship Type="http://schemas.openxmlformats.org/officeDocument/2006/relationships/notesMaster" Target="/ppt/notesMasters/notesMaster1.xml" Id="R9f8b5fb102144e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d152dd0acf48de" /><Relationship Type="http://schemas.openxmlformats.org/officeDocument/2006/relationships/notesMaster" Target="/ppt/notesMasters/notesMaster1.xml" Id="Rab31906f028342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58f1e6acbf4842" /><Relationship Type="http://schemas.openxmlformats.org/officeDocument/2006/relationships/notesMaster" Target="/ppt/notesMasters/notesMaster1.xml" Id="R2309a9e85a8a4a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96ea08cbb348c0" /><Relationship Type="http://schemas.openxmlformats.org/officeDocument/2006/relationships/notesMaster" Target="/ppt/notesMasters/notesMaster1.xml" Id="R369e73e436a247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746265036e47af" /><Relationship Type="http://schemas.openxmlformats.org/officeDocument/2006/relationships/notesMaster" Target="/ppt/notesMasters/notesMaster1.xml" Id="Ra3367d59bfe64d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c6550882cd4940" /><Relationship Type="http://schemas.openxmlformats.org/officeDocument/2006/relationships/notesMaster" Target="/ppt/notesMasters/notesMaster1.xml" Id="R192fb0e9e5ce4b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26964fb5074031" /><Relationship Type="http://schemas.openxmlformats.org/officeDocument/2006/relationships/notesMaster" Target="/ppt/notesMasters/notesMaster1.xml" Id="R6cbf7445b0cd4c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126cceaeab4fc3" /><Relationship Type="http://schemas.openxmlformats.org/officeDocument/2006/relationships/notesMaster" Target="/ppt/notesMasters/notesMaster1.xml" Id="R8da0e154c01e4c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6d5cfc80604840" /><Relationship Type="http://schemas.openxmlformats.org/officeDocument/2006/relationships/notesMaster" Target="/ppt/notesMasters/notesMaster1.xml" Id="Rdda6f764a50d49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7d1093ca98437e" /><Relationship Type="http://schemas.openxmlformats.org/officeDocument/2006/relationships/notesMaster" Target="/ppt/notesMasters/notesMaster1.xml" Id="Rf5a53e8d06cb4e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bd7a3d2d3e424d" /><Relationship Type="http://schemas.openxmlformats.org/officeDocument/2006/relationships/notesMaster" Target="/ppt/notesMasters/notesMaster1.xml" Id="Rc4a449ed261a410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5e87db019d34450" /><Relationship Type="http://schemas.openxmlformats.org/officeDocument/2006/relationships/notesMaster" Target="/ppt/notesMasters/notesMaster1.xml" Id="R1a264d5fb12c478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f5dd46c2e394eba" /><Relationship Type="http://schemas.openxmlformats.org/officeDocument/2006/relationships/notesMaster" Target="/ppt/notesMasters/notesMaster1.xml" Id="R38130675d8964e5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b7680552ffb4dec" /><Relationship Type="http://schemas.openxmlformats.org/officeDocument/2006/relationships/notesMaster" Target="/ppt/notesMasters/notesMaster1.xml" Id="R2a155d57edb74d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赛道 B：地缘政治风险 AI 应用探索。</a:t>
            </a:r>
          </a:p>
          <a:p xmlns:a="http://schemas.openxmlformats.org/drawingml/2006/main">
            <a:r>
              <a:t>模拟企业与全部业务数据均为赛题虚构。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截图来自本地运行的 Streamlit 企业概览页。</a:t>
            </a:r>
          </a:p>
          <a:p xmlns:a="http://schemas.openxmlformats.org/drawingml/2006/main">
            <a:r>
              <a:t>全部指标与企业数据为赛题模拟。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本页把外部事件到企业后果的传导链条可视化。</a:t>
            </a:r>
          </a:p>
          <a:p xmlns:a="http://schemas.openxmlformats.org/drawingml/2006/main">
            <a:r>
              <a:t>不引用现实企业个案。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用户角色与模拟企业设定来自产品设计文档及赛题材料。</a:t>
            </a:r>
          </a:p>
          <a:p xmlns:a="http://schemas.openxmlformats.org/drawingml/2006/main">
            <a:r>
              <a:t>全部业务数据为虚构。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四个问题对应依赖建模、信号抽取、情景推演和方案比较。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本页以流程差异说明产品价值，不暗示替代专业人员。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四步闭环是产品核心工作流。</a:t>
            </a:r>
          </a:p>
          <a:p xmlns:a="http://schemas.openxmlformats.org/drawingml/2006/main">
            <a:r>
              <a:t>AI 只承担非结构化文本抽取和辅助解读。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评分、推演和方案比较为确定性规则。</a:t>
            </a:r>
          </a:p>
          <a:p xmlns:a="http://schemas.openxmlformats.org/drawingml/2006/main">
            <a:r>
              <a:t>AI 输出只作辅助，必须人工复核。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截图来自美化后的本地应用依赖图谱页。</a:t>
            </a:r>
          </a:p>
          <a:p xmlns:a="http://schemas.openxmlformats.org/drawingml/2006/main">
            <a:r>
              <a:t>红色虚线表示信息未知，不代表已经发生风险。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截图来自本地应用风险事件与信号导入页。</a:t>
            </a:r>
          </a:p>
          <a:p xmlns:a="http://schemas.openxmlformats.org/drawingml/2006/main">
            <a:r>
              <a:t>新导入事件默认仅进入待核实池。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分数来自项目种子数据与 risk.py 默认权重。</a:t>
            </a:r>
          </a:p>
          <a:p xmlns:a="http://schemas.openxmlformats.org/drawingml/2006/main">
            <a:r>
              <a:t>分数用于相对比较，不是断供概率。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曲线来自 scenario.py 对 DEP-01 的确定性推演。</a:t>
            </a:r>
          </a:p>
          <a:p xmlns:a="http://schemas.openxmlformats.org/drawingml/2006/main">
            <a:r>
              <a:t>假设：100% 供应削减，新交期 20 周，计入 50 件在途。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表中成本为模拟数量级，不构成采购报价。</a:t>
            </a:r>
          </a:p>
          <a:p xmlns:a="http://schemas.openxmlformats.org/drawingml/2006/main">
            <a:r>
              <a:t>方案结果来自 compare_plans。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 A/B 的自动化回归口径见 docs/test_cases.md。</a:t>
            </a:r>
          </a:p>
          <a:p xmlns:a="http://schemas.openxmlformats.org/drawingml/2006/main">
            <a:r>
              <a:t>不把无损失结果改写成受损结论。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 C/D 回应赛道对数据、证据与 AI 边界的关注。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测试结果来自 scripts/cases.py 与 tests/test_core.py。</a:t>
            </a:r>
          </a:p>
          <a:p xmlns:a="http://schemas.openxmlformats.org/drawingml/2006/main">
            <a:r>
              <a:t>下一步需真实调研和在线部署。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bb7ae6817c47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141144d9884516" /><Relationship Type="http://schemas.openxmlformats.org/officeDocument/2006/relationships/slideLayout" Target="/ppt/slideLayouts/slideLayout1.xml" Id="R458f8772d29849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8f8772d29849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57b0d960a4726" /><Relationship Type="http://schemas.openxmlformats.org/officeDocument/2006/relationships/notesSlide" Target="/ppt/notesSlides/notesSlide1.xml" Id="Raf88a5cc69254b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d4c2b0bb14829" /><Relationship Type="http://schemas.openxmlformats.org/officeDocument/2006/relationships/image" Target="/ppt/media/image.png" Id="R312c63a59e184438" /><Relationship Type="http://schemas.openxmlformats.org/officeDocument/2006/relationships/notesSlide" Target="/ppt/notesSlides/notesSlide2.xml" Id="Readec322e4c84c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88158794143cd" /><Relationship Type="http://schemas.openxmlformats.org/officeDocument/2006/relationships/notesSlide" Target="/ppt/notesSlides/notesSlide3.xml" Id="Rb0da70eed8f548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87a9a8b534005" /><Relationship Type="http://schemas.openxmlformats.org/officeDocument/2006/relationships/notesSlide" Target="/ppt/notesSlides/notesSlide4.xml" Id="R04dd3f0f7e9e47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1b9b49408414e" /><Relationship Type="http://schemas.openxmlformats.org/officeDocument/2006/relationships/notesSlide" Target="/ppt/notesSlides/notesSlide5.xml" Id="R6850223df45445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f5c64de9d4fdf" /><Relationship Type="http://schemas.openxmlformats.org/officeDocument/2006/relationships/notesSlide" Target="/ppt/notesSlides/notesSlide6.xml" Id="R8aca7d6368df45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09edebee142ae" /><Relationship Type="http://schemas.openxmlformats.org/officeDocument/2006/relationships/notesSlide" Target="/ppt/notesSlides/notesSlide7.xml" Id="Ra7be572e4b0745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9855b3b1a4521" /><Relationship Type="http://schemas.openxmlformats.org/officeDocument/2006/relationships/notesSlide" Target="/ppt/notesSlides/notesSlide8.xml" Id="Rbc16fe95868c40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0d1e1c6494813" /><Relationship Type="http://schemas.openxmlformats.org/officeDocument/2006/relationships/image" Target="/ppt/media/image2.png" Id="R4b26fae9c4b24dcd" /><Relationship Type="http://schemas.openxmlformats.org/officeDocument/2006/relationships/notesSlide" Target="/ppt/notesSlides/notesSlide9.xml" Id="Rc0df97f053554a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40a2459ca4918" /><Relationship Type="http://schemas.openxmlformats.org/officeDocument/2006/relationships/image" Target="/ppt/media/image3.png" Id="R36e849fbcfed4aeb" /><Relationship Type="http://schemas.openxmlformats.org/officeDocument/2006/relationships/notesSlide" Target="/ppt/notesSlides/notesSlide10.xml" Id="Rb0365a56e22345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5096f76eb4ac4" /><Relationship Type="http://schemas.openxmlformats.org/officeDocument/2006/relationships/image" Target="/ppt/media/image4.png" Id="R53dc528bce854070" /><Relationship Type="http://schemas.openxmlformats.org/officeDocument/2006/relationships/notesSlide" Target="/ppt/notesSlides/notesSlide11.xml" Id="R7c65b537e4ec48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258d7d94c4028" /><Relationship Type="http://schemas.openxmlformats.org/officeDocument/2006/relationships/chart" Target="/ppt/slides/charts/chart1.xml" Id="Rec76deae40694101" /><Relationship Type="http://schemas.openxmlformats.org/officeDocument/2006/relationships/image" Target="/ppt/media/image5.png" Id="R63feba8473c14c39" /><Relationship Type="http://schemas.openxmlformats.org/officeDocument/2006/relationships/notesSlide" Target="/ppt/notesSlides/notesSlide12.xml" Id="R9ac61d4924d942e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4c727f2ee4761" /><Relationship Type="http://schemas.openxmlformats.org/officeDocument/2006/relationships/notesSlide" Target="/ppt/notesSlides/notesSlide13.xml" Id="R1fbccf1352df4d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324c641dc47b5" /><Relationship Type="http://schemas.openxmlformats.org/officeDocument/2006/relationships/image" Target="/ppt/media/image6.png" Id="R10289365aab14a61" /><Relationship Type="http://schemas.openxmlformats.org/officeDocument/2006/relationships/notesSlide" Target="/ppt/notesSlides/notesSlide14.xml" Id="R96682566d5e5417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5b3b3a0494de0" /><Relationship Type="http://schemas.openxmlformats.org/officeDocument/2006/relationships/notesSlide" Target="/ppt/notesSlides/notesSlide15.xml" Id="R7ad8541b0d544ca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244af036e45c6" /><Relationship Type="http://schemas.openxmlformats.org/officeDocument/2006/relationships/notesSlide" Target="/ppt/notesSlides/notesSlide16.xml" Id="R1186a0d8ebee462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库存（件）</c:v>
          </c:tx>
          <c:spPr>
            <a:ln xmlns:a="http://schemas.openxmlformats.org/drawingml/2006/main" w="28575">
              <a:solidFill>
                <a:srgbClr val="1978A8"/>
              </a:solidFill>
              <a:prstDash val="solid"/>
            </a:ln>
          </c:spPr>
          <c:marker>
            <c:symbol val="none"/>
          </c:marker>
          <c:cat>
            <c:numRef>
              <c:f>'Chart Data'!$A$2:$A$27</c:f>
              <c:numCache>
                <c:formatCode>General</c:formatCode>
                <c:ptCount val="2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</c:numCache>
            </c:numRef>
          </c:cat>
          <c:val>
            <c:numRef>
              <c:f>'Chart Data'!$B$2:$B$27</c:f>
              <c:numCache>
                <c:formatCode>General</c:formatCode>
                <c:ptCount val="26"/>
                <c:pt idx="0">
                  <c:v>110</c:v>
                </c:pt>
                <c:pt idx="1">
                  <c:v>150</c:v>
                </c:pt>
                <c:pt idx="2">
                  <c:v>140</c:v>
                </c:pt>
                <c:pt idx="3">
                  <c:v>130</c:v>
                </c:pt>
                <c:pt idx="4">
                  <c:v>120</c:v>
                </c:pt>
                <c:pt idx="5">
                  <c:v>110</c:v>
                </c:pt>
                <c:pt idx="6">
                  <c:v>100</c:v>
                </c:pt>
                <c:pt idx="7">
                  <c:v>90</c:v>
                </c:pt>
                <c:pt idx="8">
                  <c:v>80</c:v>
                </c:pt>
                <c:pt idx="9">
                  <c:v>70</c:v>
                </c:pt>
                <c:pt idx="10">
                  <c:v>60</c:v>
                </c:pt>
                <c:pt idx="11">
                  <c:v>50</c:v>
                </c:pt>
                <c:pt idx="12">
                  <c:v>40</c:v>
                </c:pt>
                <c:pt idx="13">
                  <c:v>30</c:v>
                </c:pt>
                <c:pt idx="14">
                  <c:v>20</c:v>
                </c:pt>
                <c:pt idx="15">
                  <c:v>10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</c:numCache>
            </c:numRef>
          </c:val>
        </c:ser>
        <c:ser>
          <c:idx val="1"/>
          <c:order val="1"/>
          <c:tx>
            <c:v>当周缺口（件）</c:v>
          </c:tx>
          <c:spPr>
            <a:ln xmlns:a="http://schemas.openxmlformats.org/drawingml/2006/main" w="28575">
              <a:solidFill>
                <a:srgbClr val="D85B5B"/>
              </a:solidFill>
              <a:prstDash val="solid"/>
            </a:ln>
          </c:spPr>
          <c:marker>
            <c:symbol val="none"/>
          </c:marker>
          <c:cat>
            <c:numRef>
              <c:f>'Chart Data'!$C$2:$C$27</c:f>
              <c:numCache>
                <c:formatCode>General</c:formatCode>
                <c:ptCount val="2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</c:numCache>
            </c:numRef>
          </c:cat>
          <c:val>
            <c:numRef>
              <c:f>'Chart Data'!$D$2:$D$27</c:f>
              <c:numCache>
                <c:formatCode>General</c:formatCode>
                <c:ptCount val="2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10</c:v>
                </c:pt>
                <c:pt idx="18">
                  <c:v>10</c:v>
                </c:pt>
                <c:pt idx="19">
                  <c:v>10</c:v>
                </c:pt>
                <c:pt idx="20">
                  <c:v>10</c:v>
                </c:pt>
                <c:pt idx="21">
                  <c:v>10</c:v>
                </c:pt>
                <c:pt idx="22">
                  <c:v>10</c:v>
                </c:pt>
                <c:pt idx="23">
                  <c:v>10</c:v>
                </c:pt>
                <c:pt idx="24">
                  <c:v>10</c:v>
                </c:pt>
                <c:pt idx="25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607986"/>
                    </a:solidFill>
                    <a:latin typeface="Microsoft YaHei"/>
                    <a:ea typeface="Microsoft YaHei"/>
                    <a:cs typeface="Microsoft YaHei"/>
                  </a:rPr>
                  <a:t>周次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607986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4E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F0F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4E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07986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5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7E3F5A-7B53-4B06-BF19-BA731A9E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C4031-94B3-4856-8166-F8D74BF8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143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E57"/>
          </a:solidFill>
          <a:ln xmlns:a="http://schemas.openxmlformats.org/drawingml/2006/main" w="9525">
            <a:solidFill>
              <a:srgbClr val="1F586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FE7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FE7ED"/>
                </a:solidFill>
                <a:latin typeface="Microsoft YaHei"/>
                <a:ea typeface="Microsoft YaHei"/>
                <a:cs typeface="Microsoft YaHei"/>
              </a:rPr>
              <a:t>AI+地缘政治风险高校挑战赛 · 赛道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E9CFC-E771-4FE2-9EEF-CBBBA1F6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4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地缘风险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75CD7-AF88-49E5-BB66-1DF25D76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325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rPr>
              <a:t>供应链地缘风险雷达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CCD36-E0CF-43A2-927A-F93343FD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B8CD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8CDD6"/>
                </a:solidFill>
                <a:latin typeface="Microsoft YaHei"/>
                <a:ea typeface="Microsoft YaHei"/>
                <a:cs typeface="Microsoft YaHei"/>
              </a:rPr>
              <a:t>把分散的地缘信号，转成可核实的供应链判断与应对窗口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BBD0D-349B-49EA-A4B8-F535CA6F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71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9525">
            <a:solidFill>
              <a:srgbClr val="FFF0DE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5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A5A18"/>
                </a:solidFill>
                <a:latin typeface="Microsoft YaHei"/>
                <a:ea typeface="Microsoft YaHei"/>
                <a:cs typeface="Microsoft YaHei"/>
              </a:rPr>
              <a:t>依赖建模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DF1789-1FB7-4367-9828-AD9F2E25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76750"/>
            <a:ext cx="971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7"/>
          </a:solidFill>
          <a:ln xmlns:a="http://schemas.openxmlformats.org/drawingml/2006/main" w="9525">
            <a:solidFill>
              <a:srgbClr val="DDF5F7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6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6C78"/>
                </a:solidFill>
                <a:latin typeface="Microsoft YaHei"/>
                <a:ea typeface="Microsoft YaHei"/>
                <a:cs typeface="Microsoft YaHei"/>
              </a:rPr>
              <a:t>风险信号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97085-D2F0-44F3-8E3F-D7A6BCDE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76750"/>
            <a:ext cx="971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F4ED"/>
          </a:solidFill>
          <a:ln xmlns:a="http://schemas.openxmlformats.org/drawingml/2006/main" w="9525">
            <a:solidFill>
              <a:srgbClr val="E1F4ED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7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8745A"/>
                </a:solidFill>
                <a:latin typeface="Microsoft YaHei"/>
                <a:ea typeface="Microsoft YaHei"/>
                <a:cs typeface="Microsoft YaHei"/>
              </a:rPr>
              <a:t>情景推演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8AA18-50F2-485D-B5BD-268D2106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D1E1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1E1E7"/>
                </a:solidFill>
                <a:latin typeface="Microsoft YaHei"/>
                <a:ea typeface="Microsoft YaHei"/>
                <a:cs typeface="Microsoft YaHei"/>
              </a:rPr>
              <a:t>西北民族大学  ·  陈冶希  李宇欣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006F6-C1E3-4FFF-98D5-5AC3381D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047750"/>
            <a:ext cx="4381500" cy="4381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4C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6B998-FDE0-413A-ADAF-865A0456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953" y="1639253"/>
            <a:ext cx="3198495" cy="319849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4C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F4323-770B-4B32-8514-843EE101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455" y="2230755"/>
            <a:ext cx="2015490" cy="20154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4C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71CCD3-187F-4C18-A47B-0B1526F6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3958" y="2822258"/>
            <a:ext cx="832485" cy="83248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4C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2FB13C-ABB3-439E-BFD0-B7A2210E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38500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4C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121BEE-7661-4E31-8D38-E2CF364F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047750"/>
            <a:ext cx="0" cy="438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4C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A5BFD8-8C4D-4BA4-ADFB-1EB53C51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860" y="1661160"/>
            <a:ext cx="3154680" cy="3154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4C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BF2FD7-ADBC-4A06-90D0-5F9E7D3F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642860" y="1661160"/>
            <a:ext cx="3154680" cy="3154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4C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9B709-1470-4F60-B807-49341CAC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663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A47BDD-8A69-47B4-A9AE-FB871D5B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285" y="2056447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981"/>
          </a:solidFill>
          <a:ln xmlns:a="http://schemas.openxmlformats.org/drawingml/2006/main" w="9525">
            <a:solidFill>
              <a:srgbClr val="2AA98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8A39F7-C411-4D0B-BE81-55F9D404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6078" y="3514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5B5B"/>
          </a:solidFill>
          <a:ln xmlns:a="http://schemas.openxmlformats.org/drawingml/2006/main" w="9525">
            <a:solidFill>
              <a:srgbClr val="D85B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397197-05AF-4DDF-832C-5A8F3B10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9210" y="44491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511E8C-CA26-41C7-92D1-DA49D268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390" y="414242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8A8"/>
          </a:solidFill>
          <a:ln xmlns:a="http://schemas.openxmlformats.org/drawingml/2006/main" w="9525">
            <a:solidFill>
              <a:srgbClr val="1978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CF7E2D-4157-4D74-BE80-17734A48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4227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F99EDD-7D34-4FAE-A430-9255A6AC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20200" y="2099310"/>
            <a:ext cx="1708785" cy="11391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B7C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2678DC-D40A-4DF0-90B3-C1865FFB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81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DA97AA-0567-48BE-B286-EB8BED00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4800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050" b="1">
                <a:solidFill>
                  <a:srgbClr val="D2ED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2EDF1"/>
                </a:solidFill>
                <a:latin typeface="Microsoft YaHei"/>
                <a:ea typeface="Microsoft YaHei"/>
                <a:cs typeface="Microsoft YaHei"/>
              </a:rPr>
              <a:t>SUPPLY CHAIN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050" b="1">
                <a:solidFill>
                  <a:srgbClr val="D2ED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2EDF1"/>
                </a:solidFill>
                <a:latin typeface="Microsoft YaHei"/>
                <a:ea typeface="Microsoft YaHei"/>
                <a:cs typeface="Microsoft YaHei"/>
              </a:rPr>
              <a:t>RISK RADAR</a:t>
            </a:r>
          </a:p>
        </p:txBody>
      </p:sp>
    </p:spTree>
    <p:extLst>
      <p:ext uri="{BB962C8B-B14F-4D97-AF65-F5344CB8AC3E}">
        <p14:creationId xmlns:p14="http://schemas.microsoft.com/office/powerpoint/2010/main" val="3807019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79BA61-BE06-4761-88D5-7D102249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/ 项目概览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28B29-CF51-43AE-B3CD-D0AF7422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一套从信号到决策窗口的可运行工具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371CD-19BA-469E-9FEA-AE9C30FA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A7B96-809B-4BD6-BDBB-5015D953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产品不是一份静态风险报告，而是一条可复核、可重跑的工作流。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644EC-323A-4D51-BDCC-FA0E14B0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953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2c63a59e184438"/>
          <a:stretch xmlns:a="http://schemas.openxmlformats.org/drawingml/2006/main"/>
        </p:blipFill>
        <p:spPr>
          <a:xfrm xmlns:a="http://schemas.openxmlformats.org/drawingml/2006/main">
            <a:off x="6900765" y="1619250"/>
            <a:ext cx="4295969" cy="323850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1D6B6-8B72-4868-9402-27B8EE8A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8A8"/>
          </a:solidFill>
          <a:ln xmlns:a="http://schemas.openxmlformats.org/drawingml/2006/main" w="9525">
            <a:solidFill>
              <a:srgbClr val="1978A8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33DC6-7A25-4FC9-B5A4-9ABEA229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335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看清依赖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5BEE9-84F6-409C-B421-DAA2F328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193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供应商 → 组件 → 订单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4CC15-D787-4D75-8C3A-A1A9E11B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99B70-CB11-4ED7-B841-B61CBEF4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765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感知信号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470DFD-4AAA-4644-8FE6-4714248E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622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RSS / 文本 → 待核实事件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4F0DAE-7EA2-4AA7-A2FC-1D77ABB3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CEF2F8-4730-4189-BE9D-731C1705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194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量化暴露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65F27-7D46-4404-B4F2-0485C7F1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052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五因子透明评分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1ADA9-7928-4F5E-AF76-3068B9CE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5B5B"/>
          </a:solidFill>
          <a:ln xmlns:a="http://schemas.openxmlformats.org/drawingml/2006/main" w="9525">
            <a:solidFill>
              <a:srgbClr val="D85B5B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7FB40F-F5E7-4031-8C39-9EA2E3E5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624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推演缺口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E9F5D3-98FA-42FF-8536-38F07743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481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库存 / 在途 / 替代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85DFDB-5C37-48A2-AE6A-D4860EC1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981"/>
          </a:solidFill>
          <a:ln xmlns:a="http://schemas.openxmlformats.org/drawingml/2006/main" w="9525">
            <a:solidFill>
              <a:srgbClr val="2AA98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E78AA8-175F-4F81-ADB6-B9B23630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053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比较对策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559F73-4AAB-4B34-8A6D-EBEBF566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911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成本、时点与效果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4276C4-7D89-42AF-A1AC-30E474D3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F4ED"/>
          </a:solidFill>
          <a:ln xmlns:a="http://schemas.openxmlformats.org/drawingml/2006/main" w="9525">
            <a:solidFill>
              <a:srgbClr val="E1F4ED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7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765A"/>
                </a:solidFill>
                <a:latin typeface="Microsoft YaHei"/>
                <a:ea typeface="Microsoft YaHei"/>
                <a:cs typeface="Microsoft YaHei"/>
              </a:rPr>
              <a:t>可运行 Web 应用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D9B95A-D674-4E3E-9226-5BC96A0A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810250"/>
            <a:ext cx="990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7"/>
          </a:solidFill>
          <a:ln xmlns:a="http://schemas.openxmlformats.org/drawingml/2006/main" w="9525">
            <a:solidFill>
              <a:srgbClr val="DDF5F7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6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26C78"/>
                </a:solidFill>
                <a:latin typeface="Microsoft YaHei"/>
                <a:ea typeface="Microsoft YaHei"/>
                <a:cs typeface="Microsoft YaHei"/>
              </a:rPr>
              <a:t>六页交互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574C14-1E88-46AD-899A-8E71EE29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10250"/>
            <a:ext cx="990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9525">
            <a:solidFill>
              <a:srgbClr val="FFF0DE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85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85916"/>
                </a:solidFill>
                <a:latin typeface="Microsoft YaHei"/>
                <a:ea typeface="Microsoft YaHei"/>
                <a:cs typeface="Microsoft YaHei"/>
              </a:rPr>
              <a:t>边界可见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6E5D22-84A3-474A-B293-835FF99C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52E342-EAA8-41F5-B1B7-494386A8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地缘风险｜西北民族大学｜陈冶希 · 李宇欣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191EAC-5D83-4B3B-903E-AC0162E1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13623442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1A0DAE-FC9F-4C31-B268-84E9FE6C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/ 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F27C4-4506-487D-8FA3-F86EB4C6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地缘事件如何传导成企业交付风险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B642A-2B40-4013-8C80-9E1E2BD1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085FB-8BFE-4077-B0B0-E400CBF4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622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B37C1-7AB4-45F0-83A5-7B5DA70A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1">
                <a:solidFill>
                  <a:srgbClr val="F29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29A3F"/>
                </a:solidFill>
                <a:latin typeface="Microsoft YaHei"/>
                <a:ea typeface="Microsoft YaHei"/>
                <a:cs typeface="Microsoft YaHei"/>
              </a:rPr>
              <a:t>POLICY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8F9D5-F05F-4CCD-B66A-F4149732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FB7B5-95A0-495E-8E1C-DFDA4B94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出口审查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CDB14-39AD-4E51-A4AE-2557D83E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许可与清单变化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AB54C-5039-4933-88A4-A5A5A057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3845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0F3"/>
          </a:solidFill>
          <a:ln xmlns:a="http://schemas.openxmlformats.org/drawingml/2006/main" w="9525">
            <a:solidFill>
              <a:srgbClr val="E9F0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E987E-A74D-4D87-BEE0-6C38DD53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52625"/>
            <a:ext cx="23622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25B2A-0ED0-4492-A950-11BB58AD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71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1">
                <a:solidFill>
                  <a:srgbClr val="D8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D85B5B"/>
                </a:solidFill>
                <a:latin typeface="Microsoft YaHei"/>
                <a:ea typeface="Microsoft YaHei"/>
                <a:cs typeface="Microsoft YaHei"/>
              </a:rPr>
              <a:t>LOGISTICS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D310F-ADBF-4930-A368-324D10C5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336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B5B"/>
          </a:solidFill>
          <a:ln xmlns:a="http://schemas.openxmlformats.org/drawingml/2006/main" w="9525">
            <a:solidFill>
              <a:srgbClr val="D85B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C0B13-E373-4509-B117-6F845463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38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航运中断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16803E-D6D6-4508-9882-E40552BB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337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航线绕行与在途延误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B450B9-0735-44E9-942C-7B3D090E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3845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0F3"/>
          </a:solidFill>
          <a:ln xmlns:a="http://schemas.openxmlformats.org/drawingml/2006/main" w="9525">
            <a:solidFill>
              <a:srgbClr val="E9F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CCB30E-49C9-44FB-A514-A6111BDD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52625"/>
            <a:ext cx="23622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BF8116-E4A7-4AF1-BABD-D0606628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rPr>
              <a:t>VISIBILITY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D4DF16-2FE1-4340-A3AE-25236191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336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87D2F2-D5AB-47E7-8C65-0F817B71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38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信息缺口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E2775C-AC60-4AAA-B64D-6FBA5EA0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337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上游授权关系不明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80F688-6FEA-43C6-B15D-4B248F71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0F3"/>
          </a:solidFill>
          <a:ln xmlns:a="http://schemas.openxmlformats.org/drawingml/2006/main" w="9525">
            <a:solidFill>
              <a:srgbClr val="E9F0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B3C0C3-AD61-468D-AF0D-7D743EA2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3622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1A207D-7848-49EB-BC38-767CED37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71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1">
                <a:solidFill>
                  <a:srgbClr val="73B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3B7C4"/>
                </a:solidFill>
                <a:latin typeface="Microsoft YaHei"/>
                <a:ea typeface="Microsoft YaHei"/>
                <a:cs typeface="Microsoft YaHei"/>
              </a:rPr>
              <a:t>IMPACT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311287-385B-4ED2-AB98-59EF6622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336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C11731-91C6-4FBD-B1FD-D8299152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38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企业后果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CC8050-38D9-4B0A-B795-C08470AA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337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050" b="0">
                <a:solidFill>
                  <a:srgbClr val="B7CB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7CBD4"/>
                </a:solidFill>
                <a:latin typeface="Microsoft YaHei"/>
                <a:ea typeface="Microsoft YaHei"/>
                <a:cs typeface="Microsoft YaHei"/>
              </a:rPr>
              <a:t>库存见底 · 排产波动 · 违约压力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7D5118-5F75-43FE-92F6-F0DE8E6E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1">
                <a:solidFill>
                  <a:srgbClr val="197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78A8"/>
                </a:solidFill>
                <a:latin typeface="Microsoft YaHei"/>
                <a:ea typeface="Microsoft YaHei"/>
                <a:cs typeface="Microsoft YaHei"/>
              </a:rPr>
              <a:t>企业常见断点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390C24-EAE8-4113-8DE7-020A9A93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23812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rPr>
              <a:t>只看到直接供应商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8614F7-EC29-43BE-8880-BB5EF0A4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105400"/>
            <a:ext cx="23812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rPr>
              <a:t>数据散落在部门与表格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6803BC-0A83-44B5-A5F1-92F2BFC3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05400"/>
            <a:ext cx="23812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rPr>
              <a:t>信号多但无法判断影响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7BBCFC-A96B-4605-B1CF-4A08EA80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05400"/>
            <a:ext cx="23812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65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65714"/>
                </a:solidFill>
                <a:latin typeface="Microsoft YaHei"/>
                <a:ea typeface="Microsoft YaHei"/>
                <a:cs typeface="Microsoft YaHei"/>
              </a:rPr>
              <a:t>方案比较靠经验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E23EED-EED3-4417-8F25-9408147A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972A60-EA25-4632-80DD-B64AA891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地缘风险｜西北民族大学｜陈冶希 · 李宇欣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816DD3-5193-49E3-84E6-015B10C6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10322554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B1DF9C-4F9C-45EC-B333-8B2438F4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/ 用户场景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6652C-08D0-4CA5-8AEB-A62EC053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三类角色，共享同一个决策底座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DA0C4-650B-4337-B5C0-85A8D9C7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2E978-3FC3-4D94-A3AC-E7D33F48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2095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07B1F-8964-4EC3-9113-A07C2CAB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8A8"/>
          </a:solidFill>
          <a:ln xmlns:a="http://schemas.openxmlformats.org/drawingml/2006/main" w="9525">
            <a:solidFill>
              <a:srgbClr val="1978A8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99EAE-9D27-4394-BA0F-333981BA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19300"/>
            <a:ext cx="457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7"/>
          </a:solidFill>
          <a:ln xmlns:a="http://schemas.openxmlformats.org/drawingml/2006/main" w="9525">
            <a:solidFill>
              <a:srgbClr val="DDF5F7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rPr>
              <a:t>供给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56AF6-A730-404F-988F-7449FE45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采购 / 供应链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5015E-60C8-42E1-8FDE-3BE8EB31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识别脆弱依赖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评估替代来源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5BAA7-0017-4098-8B05-47CD5155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33550"/>
            <a:ext cx="2095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1740B4-F16F-44E2-BE5F-74A8094E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81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2F8E7-EA02-4A2E-A0A3-7878FDFA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19300"/>
            <a:ext cx="457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F4ED"/>
          </a:solidFill>
          <a:ln xmlns:a="http://schemas.openxmlformats.org/drawingml/2006/main" w="9525">
            <a:solidFill>
              <a:srgbClr val="E1F4ED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rPr>
              <a:t>排产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54807-690A-4303-B0D3-15642B16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527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生产管理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8A23D-7FCA-4F86-8D48-40B804DC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4800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判断库存窗口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安排生产优先级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2D604-FA63-4507-99C2-F777F489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33550"/>
            <a:ext cx="2095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DF1898-0D1F-48CB-9D20-26C5CED5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981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1839A-0977-4C54-A9CA-920043E1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19300"/>
            <a:ext cx="457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9525">
            <a:solidFill>
              <a:srgbClr val="FFF0DE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rPr>
              <a:t>预警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2DA533-1BA1-4B0F-BF3B-E97DD4AD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527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战略部门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EBFE9C-06D4-4CEE-9092-9C90DA54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4800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追踪政策信号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提前调整策略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5A0DEB-6193-40B0-A237-6C51C0B1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33550"/>
            <a:ext cx="3676650" cy="37147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C4C99C-BCBA-4FC5-9159-7ECFE76B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9144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模拟企业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B00CD3-3679-4810-9ADF-189412A1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574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XX 智能装备有限公司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071B52-1CA0-4C58-BD6C-0510D6B9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7FC9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FC9D3"/>
                </a:solidFill>
                <a:latin typeface="Microsoft YaHei"/>
                <a:ea typeface="Microsoft YaHei"/>
                <a:cs typeface="Microsoft YaHei"/>
              </a:rPr>
              <a:t>关键场景参数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F72190-41BD-4BA5-BCAB-DBF4DD81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861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BC87E6-2CD3-400B-A0C5-5B72CCE0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624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0">
                <a:solidFill>
                  <a:srgbClr val="8FB0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FB0BE"/>
                </a:solidFill>
                <a:latin typeface="Microsoft YaHei"/>
                <a:ea typeface="Microsoft YaHei"/>
                <a:cs typeface="Microsoft YaHei"/>
              </a:rPr>
              <a:t>关键进口依赖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0B75F9-0C1D-4CE3-8D03-880502FF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672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B7C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B1FFF6-95D7-4925-A428-11BD13D8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861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 12 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CBB69A-8D58-4CEB-B69A-9F5BB985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962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0">
                <a:solidFill>
                  <a:srgbClr val="8FB0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FB0BE"/>
                </a:solidFill>
                <a:latin typeface="Microsoft YaHei"/>
                <a:ea typeface="Microsoft YaHei"/>
                <a:cs typeface="Microsoft YaHei"/>
              </a:rPr>
              <a:t>安全库存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71DD6D-5C34-425E-8B7F-9ADE08BA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2672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9A3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B312C3-FA1A-476F-BA76-CFE3C4B2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529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76FA3B-7696-4580-8287-0024120F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292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0">
                <a:solidFill>
                  <a:srgbClr val="8FB0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FB0BE"/>
                </a:solidFill>
                <a:latin typeface="Microsoft YaHei"/>
                <a:ea typeface="Microsoft YaHei"/>
                <a:cs typeface="Microsoft YaHei"/>
              </a:rPr>
              <a:t>待交付订单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57FC1A-C9F2-42D6-B73D-2C2D8365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3340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AA98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770950-AF7A-46A2-B94D-2134A531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529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 → 20 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B4933F-6EA3-4A62-970F-DE86966E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0292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0">
                <a:solidFill>
                  <a:srgbClr val="8FB0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FB0BE"/>
                </a:solidFill>
                <a:latin typeface="Microsoft YaHei"/>
                <a:ea typeface="Microsoft YaHei"/>
                <a:cs typeface="Microsoft YaHei"/>
              </a:rPr>
              <a:t>交期变化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F2C94B-3E4B-4819-91CA-8F364930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3340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5B5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D1AA67-7E61-4CA8-B3F8-12C48C0C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日本编码器 · 新加坡经销芯片 · 德国工业相机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F06DBF-38C7-4A9C-B595-813C165D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演示数据全部虚构；真实企业应用需重新配置 BOM、库存、订单和供应商信息。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119ABD-888A-4DF1-B1D7-0E85F9B7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F433E3-38C0-4A85-8D71-F4738841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地缘风险｜西北民族大学｜陈冶希 · 李宇欣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1E2EEE-F354-46F9-A298-46157A84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19255916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2B60B3-041D-43BD-B0DD-A475CB46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 / 用户任务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72670-9D3A-4966-8667-FC045FF7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决策者真正需要回答的四个问题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17ED1-4754-4F84-92AD-E75E7075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8E829-38CC-4E18-BB97-77A0453E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1625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15F26-5374-472B-B3FD-9F3A7941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97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978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2578E-D3FF-4028-95AE-ADE49A0E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812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哪里最脆弱？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CA3F5-7936-412B-9843-5BD6DC7E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CB84E-F469-4772-A047-A36D98E5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定位单源、单国和上游信息缺口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A5AAE-6380-4B0F-B445-AD2DF930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14500"/>
            <a:ext cx="51625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89315-16EC-402B-8957-F5D0E1C3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4A028-A96C-4D2A-BCC3-69008CAC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812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信号影响多大？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6638E-D287-41D5-B33F-BC11D707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5227C-0FBD-438A-997C-2AE10D74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把新闻与政策关联到具体依赖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858A33-9311-46E0-B788-EDFEF183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51625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6C6BC-E78B-4D78-A388-873DBE01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F29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9A3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0D42EB-F879-4A9C-B428-FEAFB27E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库存能撑多久？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E67D8E-1753-4918-B3F6-B667795D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F3BE27-68C2-4913-9D89-767C8637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计入在途、持续补货与替代周期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B0179F-B005-494E-9544-3D24C02D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76650"/>
            <a:ext cx="51625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FB7B7B-A2DD-4930-AC14-3F9C7528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2AA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AA9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1F5EBD-6D54-42EE-8CB6-F4E9ECF6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433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现在做什么？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D9A535-4918-48F8-A44B-8045C12D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9580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F44DB9-6B69-481B-894C-A5086ADA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05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比较备货、替代与排产协商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5BE342-07B5-4DF3-96E0-0339D581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16FA49-C25A-4CB2-8B89-456638E6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地缘风险｜西北民族大学｜陈冶希 · 李宇欣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F6DE2C-1541-467F-999A-2E3F99FB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19821820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8845FB-9A3B-494D-8AE3-87BA7304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 / 产品价值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B1D9D-6296-412D-B2D5-9327F7B2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把静态台账变成连续的风险工作流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104AC-A5D3-4240-9947-67D951AE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F3C3F-C5B9-40BB-9403-E98FD2BC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传统方式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F2AA0-E714-4E14-BA11-11968362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24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地缘风险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2037B-8580-4212-B542-B6FCBF52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429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7D5C9-8E5F-484B-9D7B-71712643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1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Excel 台账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7ABC6-3E60-4708-9AB4-19172151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00275"/>
            <a:ext cx="1047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0F3"/>
          </a:solidFill>
          <a:ln xmlns:a="http://schemas.openxmlformats.org/drawingml/2006/main" w="9525">
            <a:solidFill>
              <a:srgbClr val="E9F0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85693-2754-4593-84FF-DF79200B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561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8CEEB-3157-4C4E-B07A-9733531A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90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8A8"/>
          </a:solidFill>
          <a:ln xmlns:a="http://schemas.openxmlformats.org/drawingml/2006/main" w="9525">
            <a:solidFill>
              <a:srgbClr val="1978A8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8A589-FB99-47C1-AB64-89F26BED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193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依赖图谱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A2B631-18C7-486E-8515-8DCB7865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193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持续更新关键依赖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560901-8A72-42BD-8CED-69AD6965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429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14600B-CAC3-4F9B-B969-26493649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1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邮件通报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1F328-4D8C-406E-AC25-D67DFFAA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38475"/>
            <a:ext cx="1047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0F3"/>
          </a:solidFill>
          <a:ln xmlns:a="http://schemas.openxmlformats.org/drawingml/2006/main" w="9525">
            <a:solidFill>
              <a:srgbClr val="E9F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68D789-4F32-4B60-8884-029B3473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14650"/>
            <a:ext cx="561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A7B7D-2696-4E62-BF23-2F646DB8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28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50D629-4C1B-4374-9A27-E4030997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575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信号雷达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65CFAA-AAC1-468B-9046-9BEED1EB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575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来源、置信度和状态分离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FA95EC-6A08-4C0B-8648-A21DAD08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429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2B5AAB-FD9B-497A-ACA3-E7A415D6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1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报告订阅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63D9E9-A356-4FF0-B1E5-7FAB9EAA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76675"/>
            <a:ext cx="1047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0F3"/>
          </a:solidFill>
          <a:ln xmlns:a="http://schemas.openxmlformats.org/drawingml/2006/main" w="9525">
            <a:solidFill>
              <a:srgbClr val="E9F0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ACEC20-8EF2-4C1F-BF1F-2632891C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52850"/>
            <a:ext cx="561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1B4507-F1F2-4531-ACAD-81D4F1C5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67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15A404-6BA8-40CC-AE46-238D6E31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957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透明评分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6B7608-8FEA-4EB4-A592-F9AD42B9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957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分数构成与权重可见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06AC9A-CB9F-4301-8C1A-9FC1B917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3429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F44545-D3CC-4406-A08B-87F3C6CA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1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经验判断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3CFED2-DAEE-46A5-9685-B969AC9D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14875"/>
            <a:ext cx="1047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0F3"/>
          </a:solidFill>
          <a:ln xmlns:a="http://schemas.openxmlformats.org/drawingml/2006/main" w="9525">
            <a:solidFill>
              <a:srgbClr val="E9F0F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16BA7F-9325-40D1-B3C7-F548CEEA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91050"/>
            <a:ext cx="561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2AA233-33CD-4FB6-AEC9-A9385862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05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981"/>
          </a:solidFill>
          <a:ln xmlns:a="http://schemas.openxmlformats.org/drawingml/2006/main" w="9525">
            <a:solidFill>
              <a:srgbClr val="2AA98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6EE74C-EA11-4461-B5C3-41023654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339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情景推演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6DA393-703B-4869-BDE5-45338222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339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回答“如果发生 X”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79516C-5A11-4164-B8A5-A6FC0984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57850"/>
            <a:ext cx="914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7"/>
          </a:solidFill>
          <a:ln xmlns:a="http://schemas.openxmlformats.org/drawingml/2006/main" w="9525">
            <a:solidFill>
              <a:srgbClr val="DDF5F7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6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46C78"/>
                </a:solidFill>
                <a:latin typeface="Microsoft YaHei"/>
                <a:ea typeface="Microsoft YaHei"/>
                <a:cs typeface="Microsoft YaHei"/>
              </a:rPr>
              <a:t>可重跑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5A834E-331D-45A5-AD8B-8D381CBB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657850"/>
            <a:ext cx="914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F4ED"/>
          </a:solidFill>
          <a:ln xmlns:a="http://schemas.openxmlformats.org/drawingml/2006/main" w="9525">
            <a:solidFill>
              <a:srgbClr val="E1F4ED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7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745A"/>
                </a:solidFill>
                <a:latin typeface="Microsoft YaHei"/>
                <a:ea typeface="Microsoft YaHei"/>
                <a:cs typeface="Microsoft YaHei"/>
              </a:rPr>
              <a:t>可解释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05FF77-D308-4B7D-A67F-32E21AF3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657850"/>
            <a:ext cx="914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9525">
            <a:solidFill>
              <a:srgbClr val="FFF0DE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658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65816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220C80-15E5-4F4B-A173-35D64BAC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FCE381-DBA9-4705-B011-7836AB80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地缘风险｜西北民族大学｜陈冶希 · 李宇欣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79AEA6-D4BF-4C55-8EBD-014EC92C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4851727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25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133F72-6568-4974-BF40-513415D3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06 / 解决方案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D4A6A-AF4E-4BAD-91C2-0E82E6A8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四步雷达闭环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8702E-B562-4ADB-9DEC-E1BDE67E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5A8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5A8B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727C2-1F2C-460A-A2CA-E1B2A07F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52600"/>
            <a:ext cx="3962400" cy="396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516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F0441-D05C-40E6-ABF4-8320E1A9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924" y="2287524"/>
            <a:ext cx="2892552" cy="289255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516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5E036-5A7A-4921-9DC9-59ABB847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2822448"/>
            <a:ext cx="1822704" cy="182270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51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CF7A9-A251-4815-A7C5-585528CB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772" y="3357372"/>
            <a:ext cx="752856" cy="75285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516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E0946-49FD-41B7-9528-10CBBEC3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396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516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02D07-5191-434C-B317-0C65DCC3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52600"/>
            <a:ext cx="0" cy="396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516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9E631-F1F8-4A87-809A-DABAF0E0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736" y="2307336"/>
            <a:ext cx="2852928" cy="28529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516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D4F26D-8DE2-4448-85E6-BE18A9BD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97736" y="2307336"/>
            <a:ext cx="2852928" cy="28529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516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18D27-BB7B-4CF0-B368-DC82B699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915" y="328993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CEC3E8-0412-4ADF-9538-27F2E094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134" y="2660714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981"/>
          </a:solidFill>
          <a:ln xmlns:a="http://schemas.openxmlformats.org/drawingml/2006/main" w="9525">
            <a:solidFill>
              <a:srgbClr val="2AA98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297BF-529B-4A4D-A107-06E9A06B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157" y="397859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5B5B"/>
          </a:solidFill>
          <a:ln xmlns:a="http://schemas.openxmlformats.org/drawingml/2006/main" w="9525">
            <a:solidFill>
              <a:srgbClr val="D85B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D44B0-DDB3-4040-807A-577C5202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356" y="482498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5B391-B6F4-47F4-A7F8-C3667631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884" y="454761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8A8"/>
          </a:solidFill>
          <a:ln xmlns:a="http://schemas.openxmlformats.org/drawingml/2006/main" w="9525">
            <a:solidFill>
              <a:srgbClr val="1978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81014D-8AAA-4FFC-AD85-3310E708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9923" y="3462719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CDF8D9-6FB9-4A7B-BA95-007EDC75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24200" y="2703576"/>
            <a:ext cx="1545336" cy="10302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B7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1408AF-4B7E-48A4-9198-770BD006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76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77A4C0-B214-4E13-B161-95E5F8CD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33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8A8"/>
          </a:solidFill>
          <a:ln xmlns:a="http://schemas.openxmlformats.org/drawingml/2006/main" w="9525">
            <a:solidFill>
              <a:srgbClr val="1978A8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064ED8-14D7-4A7B-9112-6AC1B192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7240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依赖建模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9220D6-00A4-46E1-BCA4-8783BB85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764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A7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7C1CC"/>
                </a:solidFill>
                <a:latin typeface="Microsoft YaHei"/>
                <a:ea typeface="Microsoft YaHei"/>
                <a:cs typeface="Microsoft YaHei"/>
              </a:rPr>
              <a:t>看清供应商—组件—订单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F3D8FE-4210-447D-BD2A-017A3C97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907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A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BA29F6-9AC2-4E1D-A331-82244C90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62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CCA5B1-E47B-4F5E-B717-400F8B34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527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信号感知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A2F5F6-1E49-4AE4-8F8A-1C12C919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051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A7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7C1CC"/>
                </a:solidFill>
                <a:latin typeface="Microsoft YaHei"/>
                <a:ea typeface="Microsoft YaHei"/>
                <a:cs typeface="Microsoft YaHei"/>
              </a:rPr>
              <a:t>把文本变成待核实事件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F3CF23-FFC7-4AF5-876E-0B683811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A6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58AAB5-DE8B-4891-8539-F5D26E04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B202A1-8F59-4200-BF4A-3A01243D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814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暴露评估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B159FD-16CA-4301-9537-8BCEEDB8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338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A7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7C1CC"/>
                </a:solidFill>
                <a:latin typeface="Microsoft YaHei"/>
                <a:ea typeface="Microsoft YaHei"/>
                <a:cs typeface="Microsoft YaHei"/>
              </a:rPr>
              <a:t>五因子透明计分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DD1625-41F0-4717-98DC-9A238281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481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A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59D505-A1CC-4AB6-AEFF-58239793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19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981"/>
          </a:solidFill>
          <a:ln xmlns:a="http://schemas.openxmlformats.org/drawingml/2006/main" w="9525">
            <a:solidFill>
              <a:srgbClr val="2AA98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4D3246-28E3-47F4-B47C-ABD1FBC3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10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情景推演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18E882-A517-4BF3-9319-F1E0EC5B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1625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A7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7C1CC"/>
                </a:solidFill>
                <a:latin typeface="Microsoft YaHei"/>
                <a:ea typeface="Microsoft YaHei"/>
                <a:cs typeface="Microsoft YaHei"/>
              </a:rPr>
              <a:t>比较缺口与应对窗口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23C3DC-907A-4DAD-9D29-EB3D4F74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810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rPr>
              <a:t>结果反向暴露数据缺口，再回到依赖建模和信号配置。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6FDFF2-DA18-4E5F-8A2F-B6BFE1FE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75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E109D2-DF9C-4782-AD19-BA48F189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769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699AA"/>
                </a:solidFill>
                <a:latin typeface="Microsoft YaHei"/>
                <a:ea typeface="Microsoft YaHei"/>
                <a:cs typeface="Microsoft YaHei"/>
              </a:rPr>
              <a:t>地缘风险｜西北民族大学｜陈冶希 · 李宇欣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C8904C-0E5A-44D6-A62B-D7AAD6CB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769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699AA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11561762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DCA85F-1A2F-4B9E-847F-ECECF4BB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 / AI 与边界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B57AA-29C2-4E9A-9F42-BCFFB1CC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AI、规则引擎和人工各自负责什么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35EC4-963D-4609-9947-4194A801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859A8-B3E8-451F-8DB0-A2B24B85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371850" cy="35623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9C082-7F6D-45E8-A240-AF9C4A32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819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130E1-7FB0-4A26-9575-F3BE3E02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结构化抽取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0056F-47C8-41ED-95F1-DC8BF851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DA202-27CA-465C-BC3B-4CE75D3C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识别主体、国家和措施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4F48B-3D05-4620-8A89-57CF8675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E98EB-9D44-4FD8-8B62-E9266003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生成摘要与注意事项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11636-AF25-42B3-B159-55457627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797FE-E297-46FD-A364-1E8EF86E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291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输出必须带来源和置信度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317F4-6B75-459F-8685-4CAC0F39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3371850" cy="35623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6518D7-EB30-431F-A6ED-67C8EC74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62150"/>
            <a:ext cx="819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规则引擎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FFE45-9BC1-4F55-8CBB-D8575696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76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确定性计算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FA9DA4-7D65-4FF4-8E98-8C97BCCD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879506-57CE-498C-99D5-A5CCAD84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480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五因子暴露度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A80B82-712B-44C1-92EC-2966B3F2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33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CF0630-88CF-4E1C-B934-4EAFA093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3855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库存与交期离散推演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C2F445-93B8-4B44-92D5-17452CF9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1BA223-7A4D-4A9C-A8DD-20AE225D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291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方案成本与窗口比较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9F4447-AEF3-4905-8136-99AB6F89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14500"/>
            <a:ext cx="3371850" cy="35623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0197EC-0D41-4198-AE8D-DEF020CE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62150"/>
            <a:ext cx="819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A981"/>
          </a:solidFill>
          <a:ln xmlns:a="http://schemas.openxmlformats.org/drawingml/2006/main" w="9525">
            <a:solidFill>
              <a:srgbClr val="2AA981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0BFE97-0681-4D55-8AFC-D0526487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76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核实与决策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40BBDB-6863-49A7-8564-BE8C042C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981"/>
          </a:solidFill>
          <a:ln xmlns:a="http://schemas.openxmlformats.org/drawingml/2006/main" w="9525">
            <a:solidFill>
              <a:srgbClr val="2AA98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F2055A-4ACC-451C-A027-7F5D2E98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确认来源与影响对象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2E8B0B-87FC-48B3-92BB-A4771B92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33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981"/>
          </a:solidFill>
          <a:ln xmlns:a="http://schemas.openxmlformats.org/drawingml/2006/main" w="9525">
            <a:solidFill>
              <a:srgbClr val="2AA98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933347-A04C-409D-A92D-71DF8261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3855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校准库存、交期和替代周期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D76DD3-3520-4949-9F3A-E914F222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981"/>
          </a:solidFill>
          <a:ln xmlns:a="http://schemas.openxmlformats.org/drawingml/2006/main" w="9525">
            <a:solidFill>
              <a:srgbClr val="2AA98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99F2D3-221B-4209-B32B-C67055EE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291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批准事件进入正式结论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3BBFA1-870E-4F3F-BDF4-A56828C8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07251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AB2AC6-AC94-4C89-843F-C09E0B8E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245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原则：模型不能批准事件生效；待核实、传闻和低置信度内容默认不进入评分与推演。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4C5F67-5063-4584-8053-7AD926CC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89F1F2-A542-4E9A-A24D-8CF69BAF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地缘风险｜西北民族大学｜陈冶希 · 李宇欣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8CA1C4-F429-4078-97A0-8947EBFA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11415826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A41B48-C67C-4E81-AC37-220A3B1C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 / 核心功能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0C4B8-7FFC-472D-9428-8464FA15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依赖图谱：把上游盲区画出来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376B7-231D-4688-A4C4-CA772840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D95D8-C807-4013-AF51-24ECBF1A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7715250" cy="44577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6fae9c4b24dcd"/>
          <a:stretch xmlns:a="http://schemas.openxmlformats.org/drawingml/2006/main"/>
        </p:blipFill>
        <p:spPr>
          <a:xfrm xmlns:a="http://schemas.openxmlformats.org/drawingml/2006/main">
            <a:off x="1541689" y="1524000"/>
            <a:ext cx="5660571" cy="4267200"/>
          </a:xfrm>
          <a:prstGeom xmlns:a="http://schemas.openxmlformats.org/drawingml/2006/main" prst="roundRect">
            <a:avLst>
              <a:gd name="adj" fmla="val 178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7A293-268F-40E0-A999-6A3E823E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38300"/>
            <a:ext cx="2952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0C058-1F5B-418D-8022-30B08B4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97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978A8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337E2-53FC-4632-B1CC-CA8D08B0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71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节点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EF86C-339E-4563-87F4-83B319BF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717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供应商、组件、订单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7EB44-1C47-447E-9951-CF9AA6D1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952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FD228-4753-401A-A170-32DFF719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05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9B82A-6F82-49DD-9FE7-7DA53AB0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67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关系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98E55-0268-462D-BFB6-288538C5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671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依赖与订单需求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EB0C2C-3615-40CD-83FE-A27BCA1E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29100"/>
            <a:ext cx="2952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72718A-7C82-4C85-A93D-F7DB1210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00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D8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85B5B"/>
                </a:solidFill>
                <a:latin typeface="Microsoft YaHei"/>
                <a:ea typeface="Microsoft YaHei"/>
                <a:cs typeface="Microsoft YaHei"/>
              </a:rPr>
              <a:t>红色虚线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53DB8-F7A4-482E-B24C-A1EC5A2A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62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信息缺口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965A5A-549C-4F01-81A1-64EDB17D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7625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上游授权关系不明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3D00EA-0245-46A3-9F33-89F29E79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07B575-C9B0-4F7A-B2BA-53058B7C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地缘风险｜西北民族大学｜陈冶希 · 李宇欣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293F6A-6220-45AB-B53A-271623C4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6853648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9CABE8-FB8C-4B85-A4CA-B866F0DC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09 / 核心功能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94FC1-85ED-45B6-933B-98AAB12D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信号雷达：真实抓取不等于事实确认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B72B7-48B5-4197-AE56-368EA09E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AA1D2-29D4-45F4-9A1F-6733DCAA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5524500" cy="38481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849fbcfed4aeb"/>
          <a:stretch xmlns:a="http://schemas.openxmlformats.org/drawingml/2006/main"/>
        </p:blipFill>
        <p:spPr>
          <a:xfrm xmlns:a="http://schemas.openxmlformats.org/drawingml/2006/main">
            <a:off x="6432291" y="1504950"/>
            <a:ext cx="4851918" cy="3657600"/>
          </a:xfrm>
          <a:prstGeom xmlns:a="http://schemas.openxmlformats.org/drawingml/2006/main" prst="roundRect">
            <a:avLst>
              <a:gd name="adj" fmla="val 208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7DF2E-E396-4000-8427-6A64FF40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8A8"/>
          </a:solidFill>
          <a:ln xmlns:a="http://schemas.openxmlformats.org/drawingml/2006/main" w="9525">
            <a:solidFill>
              <a:srgbClr val="1978A8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F093D-A84D-4532-9CEC-62D4E319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62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RSS / 文本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F530B-F1FC-451B-B943-09F2E449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859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保留来源 URL 与发布时间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9ADF0-E0E5-4591-88D4-D319E31E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4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F64A8-3FE2-4213-8AF0-D4A78828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58FB9-94C1-4BCD-A9EA-8047D69F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52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AI 抽取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BBF57-4FB6-4521-8FB2-9967751D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765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主体、措施、影响对象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F40AD-4EDF-43BE-8684-FABCA121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4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96AA4-1006-4CE4-9F45-DDE5CE62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558306-BB33-48BD-B7E4-30D42B6E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43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待核实池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B4A247-897E-466E-B115-C70818AF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671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所有新事件强制 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E7244B-FBA0-480C-923D-49C7A60D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4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29C59B-4ED2-4B6B-94C7-68E833DB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981"/>
          </a:solidFill>
          <a:ln xmlns:a="http://schemas.openxmlformats.org/drawingml/2006/main" w="9525">
            <a:solidFill>
              <a:srgbClr val="2AA98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B9C678-E342-4C05-9F2F-089C1EC8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33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0DE9D7-0F99-429B-B751-C0DA9B81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批准后才进入默认结论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1CCC8E-ADF3-495E-8067-7F596137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744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9525">
            <a:solidFill>
              <a:srgbClr val="F1C7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D68F4C-04BA-4B56-B208-B4255C14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1">
                <a:solidFill>
                  <a:srgbClr val="7B4B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B4B16"/>
                </a:solidFill>
                <a:latin typeface="Microsoft YaHei"/>
                <a:ea typeface="Microsoft YaHei"/>
                <a:cs typeface="Microsoft YaHei"/>
              </a:rPr>
              <a:t>可信边界：公开新闻可能只有标题与摘要；系统不会声称已阅读全文，也不会自动认定与模拟供应商存在真实关联。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A9BEDE-2DBD-4972-B074-799698DC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28474F-8693-49EE-A067-6011B624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地缘风险｜西北民族大学｜陈冶希 · 李宇欣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0A636A-8987-4D98-A15C-D41CBBFE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16546567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08FBE9-758C-4BB1-92D0-A0DD9649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 / 核心功能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4ADE6-F27C-4FF0-84BF-FAFEBF10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暴露度：71.5 分是如何构成的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F3A63-B3BA-4192-984F-FAF509B7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8FC0C-95A4-4E91-9542-700F5F8D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2952750" cy="4095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1A84E-B1C3-42DF-8F22-2BF5BAD7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8953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5B5B"/>
          </a:solidFill>
          <a:ln xmlns:a="http://schemas.openxmlformats.org/drawingml/2006/main" w="9525">
            <a:solidFill>
              <a:srgbClr val="D85B5B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当前最高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21E91-EC9E-4383-999F-C8E79ABA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71.5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115FD-13A2-4D82-ABE7-D28C6287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00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8FB0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8FB0BF"/>
                </a:solidFill>
                <a:latin typeface="Microsoft YaHei"/>
                <a:ea typeface="Microsoft YaHei"/>
                <a:cs typeface="Microsoft YaHei"/>
              </a:rPr>
              <a:t>/ 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A32DC-73EA-47F6-AA24-03405953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00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rPr>
              <a:t>工业控制芯片ICX-774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4BCDB-F689-4528-BCDF-7066FBBB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风险等级：高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CE6AC-115B-4854-86AC-BEF97840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A9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C1CC"/>
                </a:solidFill>
                <a:latin typeface="Microsoft YaHei"/>
                <a:ea typeface="Microsoft YaHei"/>
                <a:cs typeface="Microsoft YaHei"/>
              </a:rPr>
              <a:t>主要风险因子：信息可见性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41478-84AF-4361-B8B0-E773C60B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33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rPr>
              <a:t>集中度风险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BBDB9-99EB-4D9A-A93B-3947DA63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33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125" b="1">
                <a:solidFill>
                  <a:srgbClr val="197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78A8"/>
                </a:solidFill>
                <a:latin typeface="Microsoft YaHei"/>
                <a:ea typeface="Microsoft YaHei"/>
                <a:cs typeface="Microsoft YaHei"/>
              </a:rPr>
              <a:t>65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7A963-E082-4DC2-9BF3-566BA379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28825"/>
            <a:ext cx="3333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3"/>
          </a:solidFill>
          <a:ln xmlns:a="http://schemas.openxmlformats.org/drawingml/2006/main" w="9525">
            <a:solidFill>
              <a:srgbClr val="E9F0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C82E4-8904-4C67-A595-6B255E62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28825"/>
            <a:ext cx="2166938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8A8"/>
          </a:solidFill>
          <a:ln xmlns:a="http://schemas.openxmlformats.org/drawingml/2006/main" w="9525">
            <a:solidFill>
              <a:srgbClr val="1978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E77D85-D8F9-4E65-87C5-4447559C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479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rPr>
              <a:t>事件强度风险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0B7BE9-77B3-45AB-9606-BB333902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479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125" b="1">
                <a:solidFill>
                  <a:srgbClr val="D8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85B5B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C3208-C560-4DC7-8BFD-353A57E3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43200"/>
            <a:ext cx="3333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3"/>
          </a:solidFill>
          <a:ln xmlns:a="http://schemas.openxmlformats.org/drawingml/2006/main" w="9525">
            <a:solidFill>
              <a:srgbClr val="E9F0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298E41-7399-4524-B373-E6FF8F16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43200"/>
            <a:ext cx="2000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5B5B"/>
          </a:solidFill>
          <a:ln xmlns:a="http://schemas.openxmlformats.org/drawingml/2006/main" w="9525">
            <a:solidFill>
              <a:srgbClr val="D85B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4374AE-4851-433B-96EA-C11D0805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62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rPr>
              <a:t>可替代性风险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3843E8-DA69-4B4B-8D1E-84849102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62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125" b="1">
                <a:solidFill>
                  <a:srgbClr val="F29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29A3F"/>
                </a:solidFill>
                <a:latin typeface="Microsoft YaHei"/>
                <a:ea typeface="Microsoft YaHei"/>
                <a:cs typeface="Microsoft YaHei"/>
              </a:rPr>
              <a:t>80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47289B-1200-4C5A-BF14-A1894B18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57575"/>
            <a:ext cx="3333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3"/>
          </a:solidFill>
          <a:ln xmlns:a="http://schemas.openxmlformats.org/drawingml/2006/main" w="9525">
            <a:solidFill>
              <a:srgbClr val="E9F0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FBAD75-6F3C-46FE-99F6-B9AE2386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57575"/>
            <a:ext cx="2667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A7EE59-46AA-47B2-BC34-95621E7D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766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rPr>
              <a:t>库存缓冲风险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B9591C-9C28-438C-8A0D-1629CED8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766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125" b="1">
                <a:solidFill>
                  <a:srgbClr val="2AA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AA981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432383-8319-47CA-B84E-D8060EB0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71950"/>
            <a:ext cx="3333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3"/>
          </a:solidFill>
          <a:ln xmlns:a="http://schemas.openxmlformats.org/drawingml/2006/main" w="9525">
            <a:solidFill>
              <a:srgbClr val="E9F0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BE6762-AA99-47E1-8A15-35F5B4AC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71950"/>
            <a:ext cx="1666875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A981"/>
          </a:solidFill>
          <a:ln xmlns:a="http://schemas.openxmlformats.org/drawingml/2006/main" w="9525">
            <a:solidFill>
              <a:srgbClr val="2AA98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CF813F-E99E-473C-B614-9485A986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91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rPr>
              <a:t>信息可见性风险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AE8381-C433-433C-82F8-0A2029CC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91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125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DF3730-49BC-4F01-9D7B-4B5B8648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86325"/>
            <a:ext cx="3333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3"/>
          </a:solidFill>
          <a:ln xmlns:a="http://schemas.openxmlformats.org/drawingml/2006/main" w="9525">
            <a:solidFill>
              <a:srgbClr val="E9F0F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493DA6-FAE8-4DE2-AD76-6036DF69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86325"/>
            <a:ext cx="3333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534731-DC3F-497D-807E-2360E6BA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62100"/>
            <a:ext cx="3524250" cy="354330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c528bce854070"/>
          <a:stretch xmlns:a="http://schemas.openxmlformats.org/drawingml/2006/main"/>
        </p:blipFill>
        <p:spPr>
          <a:xfrm xmlns:a="http://schemas.openxmlformats.org/drawingml/2006/main">
            <a:off x="8020050" y="2077183"/>
            <a:ext cx="3333750" cy="2513135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FBC5BA-C2E2-48A4-AA02-DD6A0161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562600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默认权重为赛题场景的主观设定；界面可调，敏感性检查仅覆盖局部扰动。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7B4C2B-0268-402E-BFED-7EBEC7D8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82D54C-E009-4EB5-A147-1D5B448E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地缘风险｜西北民族大学｜陈冶希 · 李宇欣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E05FE0-451C-4401-8C0D-8EBC8E18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9171128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FBD2B1-B994-475E-B89A-2A94B47C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 / 核心功能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9CC4A-4C14-4DC4-8C16-3CB3CD29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情景推演：第 18 周首次出现当周缺口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2149D-9792-4F1E-8A4C-145EE0A7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47700" y="1752600"/>
          <a:ext xmlns:a="http://schemas.openxmlformats.org/drawingml/2006/main" cx="72390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c76deae4069410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F083E-8792-452D-9897-B8BEAFC6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52600"/>
            <a:ext cx="3200400" cy="35242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7467E-6CB1-400C-BA80-E4CD5ED8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00250"/>
            <a:ext cx="723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52FD5-9CD2-47A8-9A4F-7AC138E5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7650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4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120 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00408-BBD6-4330-B3CA-E65CB666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527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期初库存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756CB-46A8-4429-BEB8-611ED6C5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575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78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FCF23-C043-4143-AD71-F686061D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765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4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50 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A721E-BB06-4C2D-B73E-65648804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52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在途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07DC9-6F35-4AE8-9C4E-C227FA56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575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B7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B773A2-CA71-48AE-AD1B-9B0AD284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2425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4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第 18 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6D1243-0D9C-45EA-B923-54CA160F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005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首个缺口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CF8451-6A4A-492E-996B-74A498EF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053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5B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D7F196-2110-4531-BAC2-82F54AAE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2425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4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0 受影响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D8544F-84FA-40B7-BFAD-6B4D2566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005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现有订单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567C99-3B02-4EA3-A6FD-85C2DFA7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3053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AA98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97DCE5-2C93-4232-A052-4B9CF89C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434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9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第 17 周末库存恰好归零；第 18 周才出现无法满足的当周用量。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EC1509-2B28-4DCB-9224-DC819BF3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91150"/>
            <a:ext cx="33909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eba8473c14c39"/>
          <a:srcRect xmlns:a="http://schemas.openxmlformats.org/drawingml/2006/main" l="0" t="37366" r="0" b="373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850" y="5486400"/>
            <a:ext cx="3200400" cy="609600"/>
          </a:xfrm>
          <a:prstGeom xmlns:a="http://schemas.openxmlformats.org/drawingml/2006/main" prst="roundRect">
            <a:avLst>
              <a:gd name="adj" fmla="val 12500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A72D04-DCDC-4582-B204-7239D6C6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46D6AB-0E9F-4301-A28F-8426CCB8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地缘风险｜西北民族大学｜陈冶希 · 李宇欣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796BB6-C53A-4DE6-98A3-AD5476BA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5540021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A5705-D7AB-4ADE-AC43-3719AD36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 / 核心功能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98D35-BA96-45A2-B8C2-71C4FFE3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应对方案：比较窗口，而不是只看成本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ECA9C-AA04-48E4-8D97-A2288EB8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47700" y="1695450"/>
          <a:ext xmlns:a="http://schemas.openxmlformats.org/drawingml/2006/main" cx="10896600" cy="3390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38375"/>
                <a:gridCol w="1190625"/>
                <a:gridCol w="762000"/>
                <a:gridCol w="1428750"/>
                <a:gridCol w="5276850"/>
              </a:tblGrid>
              <a:tr h="5651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0825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首次缺口</a:t>
                      </a:r>
                    </a:p>
                  </a:txBody>
                  <a:tcPr marL="91440" marR="91440" marT="45720" marB="45720" anchor="ctr">
                    <a:solidFill>
                      <a:srgbClr val="0825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</a:t>
                      </a:r>
                    </a:p>
                  </a:txBody>
                  <a:tcPr marL="91440" marR="91440" marT="45720" marB="45720" anchor="ctr">
                    <a:solidFill>
                      <a:srgbClr val="0825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成本示意（元）</a:t>
                      </a:r>
                    </a:p>
                  </a:txBody>
                  <a:tcPr marL="91440" marR="91440" marT="45720" marB="45720" anchor="ctr">
                    <a:solidFill>
                      <a:srgbClr val="0825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关键说明</a:t>
                      </a:r>
                    </a:p>
                  </a:txBody>
                  <a:tcPr marL="91440" marR="91440" marT="45720" marB="45720" anchor="ctr">
                    <a:solidFill>
                      <a:srgbClr val="08253A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基准（无应对）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18 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现状模拟，作为对比基线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增加安全库存（+8 周）</a:t>
                      </a:r>
                    </a:p>
                  </a:txBody>
                  <a:tcPr marL="91440" marR="91440" marT="45720" marB="45720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26 周</a:t>
                      </a:r>
                    </a:p>
                  </a:txBody>
                  <a:tcPr marL="91440" marR="91440" marT="45720" marB="45720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544000</a:t>
                      </a:r>
                    </a:p>
                  </a:txBody>
                  <a:tcPr marL="91440" marR="91440" marT="45720" marB="45720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成本≈资金占用，未计仓储与资金成本率</a:t>
                      </a:r>
                    </a:p>
                  </a:txBody>
                  <a:tcPr marL="91440" marR="91440" marT="45720" marB="45720" anchor="ctr">
                    <a:solidFill>
                      <a:srgbClr val="EDF3F5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启动替代供应商（第 18 周后）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不断供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244800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成本≈认证/样品示意 + 按 20% 溢价的窗口期采购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组合：加库存 + 替代供应</a:t>
                      </a:r>
                    </a:p>
                  </a:txBody>
                  <a:tcPr marL="91440" marR="91440" marT="45720" marB="45720" anchor="ctr">
                    <a:solidFill>
                      <a:srgbClr val="E1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不断供</a:t>
                      </a:r>
                    </a:p>
                  </a:txBody>
                  <a:tcPr marL="91440" marR="91440" marT="45720" marB="45720" anchor="ctr">
                    <a:solidFill>
                      <a:srgbClr val="E1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1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788800</a:t>
                      </a:r>
                    </a:p>
                  </a:txBody>
                  <a:tcPr marL="91440" marR="91440" marT="45720" marB="45720" anchor="ctr">
                    <a:solidFill>
                      <a:srgbClr val="E1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库存先顶住认证窗口，替代就绪后接管</a:t>
                      </a:r>
                    </a:p>
                  </a:txBody>
                  <a:tcPr marL="91440" marR="91440" marT="45720" marB="45720" anchor="ctr">
                    <a:solidFill>
                      <a:srgbClr val="E1F4ED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排产与客户协商（定性）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18 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priority 优先保障高优先级订单；低优先级订单协商顺延/分批。不改变断供点，但可把风险转为商务协商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C9270-4328-41F2-B80F-90FDD9DB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A981"/>
          </a:solidFill>
          <a:ln xmlns:a="http://schemas.openxmlformats.org/drawingml/2006/main" w="9525">
            <a:solidFill>
              <a:srgbClr val="2AA981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优先观察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70C88-0CCB-4BB9-8264-71560C43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530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组合方案用额外库存覆盖替代认证窗口；成本仅为数量级示意，需要现金流与采购验证。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E40D2-8B4F-42CC-83FA-117CBB99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E8A2C-7FD6-4BF1-A985-A7B124C4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地缘风险｜西北民族大学｜陈冶希 · 李宇欣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6BB5D-8BFD-443A-A651-95FD3E7B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15730387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622869-EE31-4975-9324-7492907C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13 / 用例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FEFA2-9AC4-40B8-9295-AECA7483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两个用例，展示不同的传导机制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90C81-03C3-41E3-9F83-F2CF836C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1FD60-A17E-4F04-860E-DAEC9AF4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85900"/>
            <a:ext cx="52959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89365aab14a61"/>
          <a:stretch xmlns:a="http://schemas.openxmlformats.org/drawingml/2006/main"/>
        </p:blipFill>
        <p:spPr>
          <a:xfrm xmlns:a="http://schemas.openxmlformats.org/drawingml/2006/main">
            <a:off x="6470585" y="1581150"/>
            <a:ext cx="4927730" cy="37147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D1D21-417B-4E25-89BA-0CDD4D46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5143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3DD2E-1F63-410E-86F7-AA0A4DE6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17563-FEA7-4BBD-854C-E7C535F9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621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日本编码器出口审查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0F6620-CF0D-4264-86D6-C21CDB36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38400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交期 8 → 20 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9C347-888A-4102-96CB-9628F105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38400"/>
            <a:ext cx="1695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9525">
            <a:solidFill>
              <a:srgbClr val="FFF0DE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85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85916"/>
                </a:solidFill>
                <a:latin typeface="Microsoft YaHei"/>
                <a:ea typeface="Microsoft YaHei"/>
                <a:cs typeface="Microsoft YaHei"/>
              </a:rPr>
              <a:t>第 18 周首次缺口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D8E1C-68C2-4D6F-B596-4F6D4E37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194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三批现有订单的交付周未见当周缺口；重点是对后续新增订单发出窗口预警。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B66ED-F2EF-496E-AECA-6AD0950E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5143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F9151-AF9D-443F-AD43-0DE22DDF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5B5B"/>
          </a:solidFill>
          <a:ln xmlns:a="http://schemas.openxmlformats.org/drawingml/2006/main" w="9525">
            <a:solidFill>
              <a:srgbClr val="D85B5B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C7E4F1-A130-4946-8176-6652127E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719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红海航运延误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D3B1B-D73B-4113-BCAB-4C97563A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48150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在途整体延后 4 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5FA734-1597-450A-8C21-2A9960D5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48150"/>
            <a:ext cx="1695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9525">
            <a:solidFill>
              <a:srgbClr val="FBE8E8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63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63A3A"/>
                </a:solidFill>
                <a:latin typeface="Microsoft YaHei"/>
                <a:ea typeface="Microsoft YaHei"/>
                <a:cs typeface="Microsoft YaHei"/>
              </a:rPr>
              <a:t>第 17 周首次缺口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BAFA87-194C-4AD7-9D09-8C3BCE89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291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三批现有订单的交付周未见当周缺口；重点是对后续新增订单发出窗口预警。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CEAD0A-636E-442D-840B-BE947871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839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A69BAE-452F-4D1F-9500-BCECDEBC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我们不为了“冲击力”虚构订单损失：受影响订单为 0 也是一个需要如实展示的结果。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8366D4-0527-4B80-A02C-17DDA60E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3F5942-8B62-40BD-8F61-A02C5B1C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地缘风险｜西北民族大学｜陈冶希 · 李宇欣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18F14C-EB69-417E-9E22-BFE11C17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9143586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25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50CE84-3305-4203-8C40-A5AB7010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14 / 可信边界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CF88D-9CF7-4F3C-AE6C-17D79388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系统知道什么时候不该下结论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B8520-3249-47F3-A23A-398407EF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5A8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5A8B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2A19F-E79A-412A-A083-0D7F76D3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51816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D334B"/>
          </a:solidFill>
          <a:ln xmlns:a="http://schemas.openxmlformats.org/drawingml/2006/main" w="9525">
            <a:solidFill>
              <a:srgbClr val="24536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163351-05FF-4603-BAB8-73BD1100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781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案例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396DB-E6F9-4BEC-9389-7C514BC7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上游授权关系不明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EB1FA-66EE-4D76-B487-992188CD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rPr>
              <a:t>信息可见性风险 = 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40CC7-2973-4953-9EF7-1675A142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516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1C40C-E56C-46A7-84A5-982BF2DE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B5CB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5CBD4"/>
                </a:solidFill>
                <a:latin typeface="Microsoft YaHei"/>
                <a:ea typeface="Microsoft YaHei"/>
                <a:cs typeface="Microsoft YaHei"/>
              </a:rPr>
              <a:t>输出尽调建议，不猜测原厂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BEF89-B34E-42C7-97F6-56B4820E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51816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D334B"/>
          </a:solidFill>
          <a:ln xmlns:a="http://schemas.openxmlformats.org/drawingml/2006/main" w="9525">
            <a:solidFill>
              <a:srgbClr val="24536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2F59D-F37D-4E0C-9F93-DC8CCAF7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781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案例 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2D59C8-F724-4202-9390-5593D520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媒体报道置信度不足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37FEB0-C9F8-485E-BF11-271672EE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623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F29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9A3F"/>
                </a:solidFill>
                <a:latin typeface="Microsoft YaHei"/>
                <a:ea typeface="Microsoft YaHei"/>
                <a:cs typeface="Microsoft YaHei"/>
              </a:rPr>
              <a:t>状态 = 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2BB32-5D6E-488D-8D00-1725951C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516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7AFF40-AAB0-41B6-8B49-886F8984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B5CB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5CBD4"/>
                </a:solidFill>
                <a:latin typeface="Microsoft YaHei"/>
                <a:ea typeface="Microsoft YaHei"/>
                <a:cs typeface="Microsoft YaHei"/>
              </a:rPr>
              <a:t>默认不进评分与推演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05E3B-9218-4557-A252-0C197C55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1">
                <a:solidFill>
                  <a:srgbClr val="8FB2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FB2C0"/>
                </a:solidFill>
                <a:latin typeface="Microsoft YaHei"/>
                <a:ea typeface="Microsoft YaHei"/>
                <a:cs typeface="Microsoft YaHei"/>
              </a:rPr>
              <a:t>证据成熟度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476631-F865-4E30-9521-407D8403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24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8A8"/>
          </a:solidFill>
          <a:ln xmlns:a="http://schemas.openxmlformats.org/drawingml/2006/main" w="9525">
            <a:solidFill>
              <a:srgbClr val="1978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47AD2D-E15D-41FA-9141-7C986ED8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抓取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96159D-F393-44DD-8C9E-169A2AB3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2197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657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9844D4-6809-48E3-8D2D-699EDC2E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124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E23FA6-FD2A-4380-B728-577D8C98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958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抽取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A3F1B4-571A-4D4C-B712-6DA70C87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2197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657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1D6CAE-0937-4EAD-98A0-A1B8BA18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24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60CFE9-B88D-468D-AB5C-8ED31355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958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待核实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E550C4-F4BA-4349-AF33-65D2AEA9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2197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657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ED70E9-CD87-4C2F-95BE-6132711A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981"/>
          </a:solidFill>
          <a:ln xmlns:a="http://schemas.openxmlformats.org/drawingml/2006/main" w="9525">
            <a:solidFill>
              <a:srgbClr val="2AA98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CFCC20-CA2A-4277-A70C-4ED8706E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958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178FDE-C75E-4812-ACA5-9B6D8FE7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2197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657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86DB22-97B8-4621-9AF7-BEEE43B0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124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19CD53-2684-407A-9087-84D7F177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958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进入结论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8DA856-EB81-4249-930B-7E9E7EE2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75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294E7B-A51E-4F5C-AA40-B9CF8F3A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769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699AA"/>
                </a:solidFill>
                <a:latin typeface="Microsoft YaHei"/>
                <a:ea typeface="Microsoft YaHei"/>
                <a:cs typeface="Microsoft YaHei"/>
              </a:rPr>
              <a:t>地缘风险｜西北民族大学｜陈冶希 · 李宇欣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5C43B2-86A5-4E91-A260-5F437070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769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699AA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13439484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C2D23A-5742-4CCC-BA0E-62D4716C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 / 验证与迭代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72DD6-05EB-4C2D-A16F-B25A0DE4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可运行、可回归、可复核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F77FF-2138-4B98-AA5C-9F8C0B25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25580-2E3E-4521-A86E-922F618F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24193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DE91E-9F66-4502-98AF-808A6A51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150" b="1">
                <a:solidFill>
                  <a:srgbClr val="197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978A8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0844F-74C3-4FC6-92B3-1C2B1D4F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案例断言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6B198-4A0E-4F70-91E8-C751F9B7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A–D 自动化回归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D2063-F1A6-463C-BB9C-56EE28C0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57350"/>
            <a:ext cx="24193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8F8AD-6A6C-456A-9D07-15B0BA70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669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150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EB52B-49ED-4C3D-985F-E0E6E538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离线单元测试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142E8-5108-4C4D-8014-6634568D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38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模型 / 导入 / 报告边界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1EE10-8FF4-4597-87B3-065274CA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24193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6D8FF-D3D8-41FE-9416-E69F49FC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669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150" b="1">
                <a:solidFill>
                  <a:srgbClr val="F29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29A3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66E6E-C916-4DD6-900C-C7388AF7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交互页面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59D42D-F907-40C0-B1AA-569DBAA8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38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逐页浏览无异常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9F8274-DE98-4AF1-8746-C1584F8D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57350"/>
            <a:ext cx="24193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A4A40D-6B90-41D8-8623-E5114572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669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150" b="1">
                <a:solidFill>
                  <a:srgbClr val="2AA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AA9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7C101-E3BC-4D97-878B-224BC58A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57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介绍页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A180BF-F993-4976-B824-6A9ED921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38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PPT 结构校验通过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81AF73-B417-4C60-98DB-65DFD920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已知局限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24AC24-4062-4201-B1E3-30016039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344279-F3A1-4D60-85A2-115E5E63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企业与业务数据为赛题模拟，真实部署需重新标定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ECAE8B-2ACA-467F-922A-9525AB1E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6D9F8B-511E-42E2-A7CF-C2A6F59D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冲突报道尚未做多来源一致性消解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0AC513-1A74-4E78-93C9-72D95D5A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1C7B18-7E00-4987-B262-C6F87313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订单影响是交付周供给筛查，不等于排产保证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092B24-4028-4CE0-BC61-583150DC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71900"/>
            <a:ext cx="50673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16EA48-86C2-4C09-B8B8-ED12B41F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38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194218-703D-4CD8-AB98-B4BED6C8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5770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真实企业调研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在线部署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多来源冲突消解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F668B8-57C2-4BDB-AE3D-7E0B7F02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054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地缘风险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BBD4AB-CD99-4E11-8D53-D8726E28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A2F076-DC48-4234-880F-ABDFE3CB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地缘风险｜西北民族大学｜陈冶希 · 李宇欣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335D8E-88E5-4C41-9F94-1B1EE01D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20434162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2026-09-10T12:42:24.4770000Z</dcterms:created>
  <dcterms:modified xsi:type="dcterms:W3CDTF">2026-09-10T12:42:24.4770000Z</dcterms:modified>
</coreProperties>
</file>