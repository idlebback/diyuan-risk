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5c9718c28841c5" /><Relationship Type="http://schemas.openxmlformats.org/officeDocument/2006/relationships/extended-properties" Target="/docProps/app.xml" Id="R09ab35d0791a49b4" /><Relationship Type="http://schemas.openxmlformats.org/officeDocument/2006/relationships/officeDocument" Target="/ppt/presentation.xml" Id="R7bdabd8402c8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a5e19bbb54e57"/>
  </p:sldMasterIdLst>
  <p:notesMasterIdLst>
    <p:notesMasterId xmlns:r="http://schemas.openxmlformats.org/officeDocument/2006/relationships" r:id="Rfcec8545fc3542ca"/>
  </p:notesMasterIdLst>
  <p:sldIdLst>
    <p:sldId xmlns:r="http://schemas.openxmlformats.org/officeDocument/2006/relationships" id="256" r:id="Rd079afbb2afd4036"/>
    <p:sldId xmlns:r="http://schemas.openxmlformats.org/officeDocument/2006/relationships" id="257" r:id="R84ccf45f126e4705"/>
    <p:sldId xmlns:r="http://schemas.openxmlformats.org/officeDocument/2006/relationships" id="258" r:id="R96d3d5dc3c9748c7"/>
    <p:sldId xmlns:r="http://schemas.openxmlformats.org/officeDocument/2006/relationships" id="259" r:id="R042a1581b495452b"/>
    <p:sldId xmlns:r="http://schemas.openxmlformats.org/officeDocument/2006/relationships" id="260" r:id="Rcaf9229f1367443f"/>
    <p:sldId xmlns:r="http://schemas.openxmlformats.org/officeDocument/2006/relationships" id="261" r:id="Re28b8e6f599d4d90"/>
    <p:sldId xmlns:r="http://schemas.openxmlformats.org/officeDocument/2006/relationships" id="262" r:id="R04988eae399f4a35"/>
    <p:sldId xmlns:r="http://schemas.openxmlformats.org/officeDocument/2006/relationships" id="263" r:id="Rfe3c54428b8c44d9"/>
    <p:sldId xmlns:r="http://schemas.openxmlformats.org/officeDocument/2006/relationships" id="264" r:id="R478ac174a71c411f"/>
    <p:sldId xmlns:r="http://schemas.openxmlformats.org/officeDocument/2006/relationships" id="265" r:id="Rb6d68e68883c4571"/>
    <p:sldId xmlns:r="http://schemas.openxmlformats.org/officeDocument/2006/relationships" id="266" r:id="Rc5b394520bc641f3"/>
    <p:sldId xmlns:r="http://schemas.openxmlformats.org/officeDocument/2006/relationships" id="267" r:id="Rdceae4ae85554824"/>
    <p:sldId xmlns:r="http://schemas.openxmlformats.org/officeDocument/2006/relationships" id="268" r:id="R79a224772fe14f3a"/>
    <p:sldId xmlns:r="http://schemas.openxmlformats.org/officeDocument/2006/relationships" id="269" r:id="Rf3326363952e41a0"/>
    <p:sldId xmlns:r="http://schemas.openxmlformats.org/officeDocument/2006/relationships" id="270" r:id="Rc74352401cef45c3"/>
    <p:sldId xmlns:r="http://schemas.openxmlformats.org/officeDocument/2006/relationships" id="271" r:id="R14b537a975824d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c1c7b983b74c76" /><Relationship Type="http://schemas.openxmlformats.org/officeDocument/2006/relationships/slideMaster" Target="/ppt/slideMasters/slideMaster1.xml" Id="Rbb9a5e19bbb54e57" /><Relationship Type="http://schemas.openxmlformats.org/officeDocument/2006/relationships/notesMaster" Target="/ppt/notesMasters/notesMaster1.xml" Id="Rfcec8545fc3542ca" /><Relationship Type="http://schemas.openxmlformats.org/officeDocument/2006/relationships/presProps" Target="/ppt/presProps.xml" Id="Rc508bb20b1204446" /><Relationship Type="http://schemas.openxmlformats.org/officeDocument/2006/relationships/tableStyles" Target="/ppt/tableStyles.xml" Id="Raa355a29424b45b3" /><Relationship Type="http://schemas.openxmlformats.org/officeDocument/2006/relationships/slide" Target="/ppt/slides/slide1.xml" Id="Rd079afbb2afd4036" /><Relationship Type="http://schemas.openxmlformats.org/officeDocument/2006/relationships/slide" Target="/ppt/slides/slide2.xml" Id="R84ccf45f126e4705" /><Relationship Type="http://schemas.openxmlformats.org/officeDocument/2006/relationships/slide" Target="/ppt/slides/slide3.xml" Id="R96d3d5dc3c9748c7" /><Relationship Type="http://schemas.openxmlformats.org/officeDocument/2006/relationships/slide" Target="/ppt/slides/slide4.xml" Id="R042a1581b495452b" /><Relationship Type="http://schemas.openxmlformats.org/officeDocument/2006/relationships/slide" Target="/ppt/slides/slide5.xml" Id="Rcaf9229f1367443f" /><Relationship Type="http://schemas.openxmlformats.org/officeDocument/2006/relationships/slide" Target="/ppt/slides/slide6.xml" Id="Re28b8e6f599d4d90" /><Relationship Type="http://schemas.openxmlformats.org/officeDocument/2006/relationships/slide" Target="/ppt/slides/slide7.xml" Id="R04988eae399f4a35" /><Relationship Type="http://schemas.openxmlformats.org/officeDocument/2006/relationships/slide" Target="/ppt/slides/slide8.xml" Id="Rfe3c54428b8c44d9" /><Relationship Type="http://schemas.openxmlformats.org/officeDocument/2006/relationships/slide" Target="/ppt/slides/slide9.xml" Id="R478ac174a71c411f" /><Relationship Type="http://schemas.openxmlformats.org/officeDocument/2006/relationships/slide" Target="/ppt/slides/slide10.xml" Id="Rb6d68e68883c4571" /><Relationship Type="http://schemas.openxmlformats.org/officeDocument/2006/relationships/slide" Target="/ppt/slides/slide11.xml" Id="Rc5b394520bc641f3" /><Relationship Type="http://schemas.openxmlformats.org/officeDocument/2006/relationships/slide" Target="/ppt/slides/slide12.xml" Id="Rdceae4ae85554824" /><Relationship Type="http://schemas.openxmlformats.org/officeDocument/2006/relationships/slide" Target="/ppt/slides/slide13.xml" Id="R79a224772fe14f3a" /><Relationship Type="http://schemas.openxmlformats.org/officeDocument/2006/relationships/slide" Target="/ppt/slides/slide14.xml" Id="Rf3326363952e41a0" /><Relationship Type="http://schemas.openxmlformats.org/officeDocument/2006/relationships/slide" Target="/ppt/slides/slide15.xml" Id="Rc74352401cef45c3" /><Relationship Type="http://schemas.openxmlformats.org/officeDocument/2006/relationships/slide" Target="/ppt/slides/slide16.xml" Id="R14b537a975824d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eae12abd68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7930b702b4fce" /><Relationship Type="http://schemas.openxmlformats.org/officeDocument/2006/relationships/notesMaster" Target="/ppt/notesMasters/notesMaster1.xml" Id="R140b5ea77c7342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8e3eab9c8046f2" /><Relationship Type="http://schemas.openxmlformats.org/officeDocument/2006/relationships/notesMaster" Target="/ppt/notesMasters/notesMaster1.xml" Id="R16f2d7294dac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39c00346844b71" /><Relationship Type="http://schemas.openxmlformats.org/officeDocument/2006/relationships/notesMaster" Target="/ppt/notesMasters/notesMaster1.xml" Id="R91a44312de7d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ca9a79323462b" /><Relationship Type="http://schemas.openxmlformats.org/officeDocument/2006/relationships/notesMaster" Target="/ppt/notesMasters/notesMaster1.xml" Id="Rbe01441e3dc6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695db941a4914" /><Relationship Type="http://schemas.openxmlformats.org/officeDocument/2006/relationships/notesMaster" Target="/ppt/notesMasters/notesMaster1.xml" Id="R26596afc1e2e49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d7afabd52444a1" /><Relationship Type="http://schemas.openxmlformats.org/officeDocument/2006/relationships/notesMaster" Target="/ppt/notesMasters/notesMaster1.xml" Id="Rd2277a76714647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75d4af06e475a" /><Relationship Type="http://schemas.openxmlformats.org/officeDocument/2006/relationships/notesMaster" Target="/ppt/notesMasters/notesMaster1.xml" Id="Rd9826d5c097f43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ee967dcaec4dbc" /><Relationship Type="http://schemas.openxmlformats.org/officeDocument/2006/relationships/notesMaster" Target="/ppt/notesMasters/notesMaster1.xml" Id="R35eeddc8d5af4d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21b54ac05842f0" /><Relationship Type="http://schemas.openxmlformats.org/officeDocument/2006/relationships/notesMaster" Target="/ppt/notesMasters/notesMaster1.xml" Id="Rbd054c861dc64d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954b97b0e84871" /><Relationship Type="http://schemas.openxmlformats.org/officeDocument/2006/relationships/notesMaster" Target="/ppt/notesMasters/notesMaster1.xml" Id="R3c918394e10a49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4f6dfb670549dd" /><Relationship Type="http://schemas.openxmlformats.org/officeDocument/2006/relationships/notesMaster" Target="/ppt/notesMasters/notesMaster1.xml" Id="R6017bb2ebd5f4c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b10575d16c47f8" /><Relationship Type="http://schemas.openxmlformats.org/officeDocument/2006/relationships/notesMaster" Target="/ppt/notesMasters/notesMaster1.xml" Id="R0dae6476baea44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2f6e7a54a24835" /><Relationship Type="http://schemas.openxmlformats.org/officeDocument/2006/relationships/notesMaster" Target="/ppt/notesMasters/notesMaster1.xml" Id="Ra5f22860567e4b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6cc19fb36a4239" /><Relationship Type="http://schemas.openxmlformats.org/officeDocument/2006/relationships/notesMaster" Target="/ppt/notesMasters/notesMaster1.xml" Id="R49064cd51e444d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2eb828d9634dd8" /><Relationship Type="http://schemas.openxmlformats.org/officeDocument/2006/relationships/notesMaster" Target="/ppt/notesMasters/notesMaster1.xml" Id="R2471e7a758ce4c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7780cdbcc54a47" /><Relationship Type="http://schemas.openxmlformats.org/officeDocument/2006/relationships/notesMaster" Target="/ppt/notesMasters/notesMaster1.xml" Id="R8d6f297e584741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赛道 B：地缘政治风险 AI 应用探索。</a:t>
            </a:r>
          </a:p>
          <a:p xmlns:a="http://schemas.openxmlformats.org/drawingml/2006/main">
            <a:r>
              <a:t>模拟企业与全部业务数据均为赛题虚构。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截图来自本地运行的 Streamlit 企业概览页。</a:t>
            </a:r>
          </a:p>
          <a:p xmlns:a="http://schemas.openxmlformats.org/drawingml/2006/main">
            <a:r>
              <a:t>全部指标与企业数据为赛题模拟。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本页把外部事件到企业后果的传导链条可视化。</a:t>
            </a:r>
          </a:p>
          <a:p xmlns:a="http://schemas.openxmlformats.org/drawingml/2006/main">
            <a:r>
              <a:t>不引用现实企业个案。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用户角色与模拟企业设定来自产品设计文档及赛题材料。</a:t>
            </a:r>
          </a:p>
          <a:p xmlns:a="http://schemas.openxmlformats.org/drawingml/2006/main">
            <a:r>
              <a:t>全部业务数据为虚构。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四个问题对应依赖建模、信号抽取、情景推演和方案比较。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本页以流程差异说明产品价值，不暗示替代专业人员。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四步闭环是产品核心工作流。</a:t>
            </a:r>
          </a:p>
          <a:p xmlns:a="http://schemas.openxmlformats.org/drawingml/2006/main">
            <a:r>
              <a:t>AI 只承担非结构化文本抽取和辅助解读。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评分、推演和方案比较为确定性规则。</a:t>
            </a:r>
          </a:p>
          <a:p xmlns:a="http://schemas.openxmlformats.org/drawingml/2006/main">
            <a:r>
              <a:t>AI 输出只作辅助，必须人工复核。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截图来自美化后的本地应用依赖图谱页。</a:t>
            </a:r>
          </a:p>
          <a:p xmlns:a="http://schemas.openxmlformats.org/drawingml/2006/main">
            <a:r>
              <a:t>红色虚线表示信息未知，不代表已经发生风险。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截图来自本地应用风险事件与信号导入页。</a:t>
            </a:r>
          </a:p>
          <a:p xmlns:a="http://schemas.openxmlformats.org/drawingml/2006/main">
            <a:r>
              <a:t>新导入事件默认仅进入待核实池。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分数来自项目种子数据与 risk.py 默认权重。</a:t>
            </a:r>
          </a:p>
          <a:p xmlns:a="http://schemas.openxmlformats.org/drawingml/2006/main">
            <a:r>
              <a:t>分数用于相对比较，不是断供概率。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曲线来自 scenario.py 对 DEP-01 的确定性推演。</a:t>
            </a:r>
          </a:p>
          <a:p xmlns:a="http://schemas.openxmlformats.org/drawingml/2006/main">
            <a:r>
              <a:t>假设：100% 供应削减，新交期 20 周，计入 50 件在途。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表中成本为模拟数量级，不构成采购报价。</a:t>
            </a:r>
          </a:p>
          <a:p xmlns:a="http://schemas.openxmlformats.org/drawingml/2006/main">
            <a:r>
              <a:t>方案结果来自 compare_plans。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A/B 的自动化回归口径见 docs/test_cases.md。</a:t>
            </a:r>
          </a:p>
          <a:p xmlns:a="http://schemas.openxmlformats.org/drawingml/2006/main">
            <a:r>
              <a:t>不把无损失结果改写成受损结论。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 C/D 回应赛道对数据、证据与 AI 边界的关注。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测试结果来自 scripts/cases.py 与 tests/test_core.py。</a:t>
            </a:r>
          </a:p>
          <a:p xmlns:a="http://schemas.openxmlformats.org/drawingml/2006/main">
            <a:r>
              <a:t>下一步需真实调研和在线部署。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4fcf3698c44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4a90bd57bb410a" /><Relationship Type="http://schemas.openxmlformats.org/officeDocument/2006/relationships/slideLayout" Target="/ppt/slideLayouts/slideLayout1.xml" Id="R7bb682a3b4bd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b682a3b4bd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c56bc32ad4c72" /><Relationship Type="http://schemas.openxmlformats.org/officeDocument/2006/relationships/notesSlide" Target="/ppt/notesSlides/notesSlide1.xml" Id="R23b0d3a32a4540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4f577e14d47f9" /><Relationship Type="http://schemas.openxmlformats.org/officeDocument/2006/relationships/image" Target="/ppt/media/image.png" Id="Rc4a84fb8c6514a64" /><Relationship Type="http://schemas.openxmlformats.org/officeDocument/2006/relationships/notesSlide" Target="/ppt/notesSlides/notesSlide2.xml" Id="R54bab019c3f0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aef44107b40d4" /><Relationship Type="http://schemas.openxmlformats.org/officeDocument/2006/relationships/notesSlide" Target="/ppt/notesSlides/notesSlide3.xml" Id="Rcbccf7865b404c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87282e6ff43a8" /><Relationship Type="http://schemas.openxmlformats.org/officeDocument/2006/relationships/notesSlide" Target="/ppt/notesSlides/notesSlide4.xml" Id="Rb9e38814aee8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d8ae836340dd" /><Relationship Type="http://schemas.openxmlformats.org/officeDocument/2006/relationships/notesSlide" Target="/ppt/notesSlides/notesSlide5.xml" Id="Rd817f971d217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20559dc324f83" /><Relationship Type="http://schemas.openxmlformats.org/officeDocument/2006/relationships/notesSlide" Target="/ppt/notesSlides/notesSlide6.xml" Id="R683130a0496e4f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fedd776f140a0" /><Relationship Type="http://schemas.openxmlformats.org/officeDocument/2006/relationships/notesSlide" Target="/ppt/notesSlides/notesSlide7.xml" Id="Rf69a1c833a3447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d6b28d9114d29" /><Relationship Type="http://schemas.openxmlformats.org/officeDocument/2006/relationships/notesSlide" Target="/ppt/notesSlides/notesSlide8.xml" Id="R5b9d3a70d30f46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4362cb6ac4282" /><Relationship Type="http://schemas.openxmlformats.org/officeDocument/2006/relationships/image" Target="/ppt/media/image2.png" Id="R68655533d9d24ed2" /><Relationship Type="http://schemas.openxmlformats.org/officeDocument/2006/relationships/notesSlide" Target="/ppt/notesSlides/notesSlide9.xml" Id="Ra8881916a6c845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0da9dd424572" /><Relationship Type="http://schemas.openxmlformats.org/officeDocument/2006/relationships/image" Target="/ppt/media/image3.png" Id="R76ecd0b9e1164788" /><Relationship Type="http://schemas.openxmlformats.org/officeDocument/2006/relationships/notesSlide" Target="/ppt/notesSlides/notesSlide10.xml" Id="R984cf1500d224f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3af729138492a" /><Relationship Type="http://schemas.openxmlformats.org/officeDocument/2006/relationships/image" Target="/ppt/media/image4.png" Id="R83a2ebf49c3e4707" /><Relationship Type="http://schemas.openxmlformats.org/officeDocument/2006/relationships/notesSlide" Target="/ppt/notesSlides/notesSlide11.xml" Id="Rbf9621b5628c47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a9db816da4f99" /><Relationship Type="http://schemas.openxmlformats.org/officeDocument/2006/relationships/chart" Target="/ppt/slides/charts/chart1.xml" Id="R1e18d1b34acf47b2" /><Relationship Type="http://schemas.openxmlformats.org/officeDocument/2006/relationships/image" Target="/ppt/media/image5.png" Id="R92a1e5562250492e" /><Relationship Type="http://schemas.openxmlformats.org/officeDocument/2006/relationships/notesSlide" Target="/ppt/notesSlides/notesSlide12.xml" Id="R5bb6e1fe779346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fe68118e84695" /><Relationship Type="http://schemas.openxmlformats.org/officeDocument/2006/relationships/notesSlide" Target="/ppt/notesSlides/notesSlide13.xml" Id="R870d7e995d154d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14e94ccdb4ea0" /><Relationship Type="http://schemas.openxmlformats.org/officeDocument/2006/relationships/image" Target="/ppt/media/image6.png" Id="R546fbe55e1a24677" /><Relationship Type="http://schemas.openxmlformats.org/officeDocument/2006/relationships/notesSlide" Target="/ppt/notesSlides/notesSlide14.xml" Id="R6db1bae558004f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6666a68f49f0" /><Relationship Type="http://schemas.openxmlformats.org/officeDocument/2006/relationships/notesSlide" Target="/ppt/notesSlides/notesSlide15.xml" Id="R118a6723ff3c43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67b4940514551" /><Relationship Type="http://schemas.openxmlformats.org/officeDocument/2006/relationships/notesSlide" Target="/ppt/notesSlides/notesSlide16.xml" Id="Rc8692fd0b8cb41d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库存（件）</c:v>
          </c:tx>
          <c:spPr>
            <a:ln xmlns:a="http://schemas.openxmlformats.org/drawingml/2006/main" w="28575">
              <a:solidFill>
                <a:srgbClr val="1978A8"/>
              </a:solidFill>
              <a:prstDash val="solid"/>
            </a:ln>
          </c:spPr>
          <c:marker>
            <c:symbol val="none"/>
          </c:marker>
          <c:cat>
            <c:numRef>
              <c:f>'Chart Data'!$A$2:$A$27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numCache>
            </c:numRef>
          </c:cat>
          <c:val>
            <c:numRef>
              <c:f>'Chart Data'!$B$2:$B$27</c:f>
              <c:numCache>
                <c:formatCode>General</c:formatCode>
                <c:ptCount val="26"/>
                <c:pt idx="0">
                  <c:v>110</c:v>
                </c:pt>
                <c:pt idx="1">
                  <c:v>150</c:v>
                </c:pt>
                <c:pt idx="2">
                  <c:v>140</c:v>
                </c:pt>
                <c:pt idx="3">
                  <c:v>130</c:v>
                </c:pt>
                <c:pt idx="4">
                  <c:v>120</c:v>
                </c:pt>
                <c:pt idx="5">
                  <c:v>110</c:v>
                </c:pt>
                <c:pt idx="6">
                  <c:v>100</c:v>
                </c:pt>
                <c:pt idx="7">
                  <c:v>90</c:v>
                </c:pt>
                <c:pt idx="8">
                  <c:v>80</c:v>
                </c:pt>
                <c:pt idx="9">
                  <c:v>70</c:v>
                </c:pt>
                <c:pt idx="10">
                  <c:v>60</c:v>
                </c:pt>
                <c:pt idx="11">
                  <c:v>50</c:v>
                </c:pt>
                <c:pt idx="12">
                  <c:v>40</c:v>
                </c:pt>
                <c:pt idx="13">
                  <c:v>30</c:v>
                </c:pt>
                <c:pt idx="14">
                  <c:v>20</c:v>
                </c:pt>
                <c:pt idx="15">
                  <c:v>10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</c:numCache>
            </c:numRef>
          </c:val>
        </c:ser>
        <c:ser>
          <c:idx val="1"/>
          <c:order val="1"/>
          <c:tx>
            <c:v>当周缺口（件）</c:v>
          </c:tx>
          <c:spPr>
            <a:ln xmlns:a="http://schemas.openxmlformats.org/drawingml/2006/main" w="28575">
              <a:solidFill>
                <a:srgbClr val="D85B5B"/>
              </a:solidFill>
              <a:prstDash val="solid"/>
            </a:ln>
          </c:spPr>
          <c:marker>
            <c:symbol val="none"/>
          </c:marker>
          <c:cat>
            <c:numRef>
              <c:f>'Chart Data'!$C$2:$C$27</c:f>
              <c:numCache>
                <c:formatCode>General</c:formatCode>
                <c:ptCount val="2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</c:numCache>
            </c:numRef>
          </c:cat>
          <c:val>
            <c:numRef>
              <c:f>'Chart Data'!$D$2:$D$27</c:f>
              <c:numCache>
                <c:formatCode>General</c:formatCode>
                <c:ptCount val="2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07986"/>
                    </a:solidFill>
                    <a:latin typeface="Microsoft YaHei"/>
                    <a:ea typeface="Microsoft YaHei"/>
                    <a:cs typeface="Microsoft YaHei"/>
                  </a:rPr>
                  <a:t>周次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0798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F0F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07986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587AA-9E9E-4F9D-90D9-9A21FD6B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058B0-4669-4D07-AE58-89365A4A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E57"/>
          </a:solidFill>
          <a:ln xmlns:a="http://schemas.openxmlformats.org/drawingml/2006/main" w="9525">
            <a:solidFill>
              <a:srgbClr val="1F586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FE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FE7ED"/>
                </a:solidFill>
                <a:latin typeface="Microsoft YaHei"/>
                <a:ea typeface="Microsoft YaHei"/>
                <a:cs typeface="Microsoft YaHei"/>
              </a:rPr>
              <a:t>AI+地缘政治风险高校挑战赛 · 赛道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410F-C38A-48C6-A42E-9AB53FD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C1967-ED39-4275-9B3B-5D27C495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供应链地缘风险雷达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B159B-E312-44AB-98F6-E08D8118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B8CD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CDD6"/>
                </a:solidFill>
                <a:latin typeface="Microsoft YaHei"/>
                <a:ea typeface="Microsoft YaHei"/>
                <a:cs typeface="Microsoft YaHei"/>
              </a:rPr>
              <a:t>把分散的地缘信号，转成可核实的供应链判断与应对窗口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949C9-0068-4BCB-ADDA-C48547E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A5A18"/>
                </a:solidFill>
                <a:latin typeface="Microsoft YaHei"/>
                <a:ea typeface="Microsoft YaHei"/>
                <a:cs typeface="Microsoft YaHei"/>
              </a:rPr>
              <a:t>依赖建模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22F23-8D70-4767-BF65-18436757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6C78"/>
                </a:solidFill>
                <a:latin typeface="Microsoft YaHei"/>
                <a:ea typeface="Microsoft YaHei"/>
                <a:cs typeface="Microsoft YaHei"/>
              </a:rPr>
              <a:t>风险信号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92FF2-BFF4-4A06-A24D-70DE811E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767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7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8745A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B67F1-CE61-4560-95C5-B2389DA9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D1E1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1E1E7"/>
                </a:solidFill>
                <a:latin typeface="Microsoft YaHei"/>
                <a:ea typeface="Microsoft YaHei"/>
                <a:cs typeface="Microsoft YaHei"/>
              </a:rPr>
              <a:t>西北民族大学  ·  林明强  陈治希  李宇欣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62128-6F1C-4C94-BBBB-4752EE0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47750"/>
            <a:ext cx="4381500" cy="4381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1F26E-7558-44CB-A6BE-E3988B20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953" y="1639253"/>
            <a:ext cx="3198495" cy="3198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035EF-F763-4C24-8540-BC9FA63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455" y="2230755"/>
            <a:ext cx="2015490" cy="20154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060DA-01BC-47D6-A7B0-189DAF3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958" y="2822258"/>
            <a:ext cx="832485" cy="83248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8BC8B-CE16-4789-9B4C-7BBD7AE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538FC-7453-4378-8989-FE3F7FD0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47750"/>
            <a:ext cx="0" cy="438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8167D-818E-41B1-A882-30575C18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860" y="1661160"/>
            <a:ext cx="3154680" cy="315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A53DC-438F-4269-BAF6-89A2490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42860" y="1661160"/>
            <a:ext cx="3154680" cy="315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94C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BC51D-7CD0-462C-9370-D1433C7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3F0DE-5CE2-4BEC-AF87-57360CB6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285" y="2056447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E3C47-7034-41D1-8EDE-2E06B98E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78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3531C-8B1B-4286-9DC9-E01203A9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9210" y="44491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15685-7ED3-4A93-BA96-917640A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14242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FB724-66A2-4CBE-995A-6A6BD86F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4227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8BD2B1-7101-44A4-9F35-1CF0949E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20200" y="2099310"/>
            <a:ext cx="1708785" cy="11391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B7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38B7B-07C1-4447-8FA6-93DFF50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4D669-01AD-4FBE-82E6-2DDD2199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rPr>
              <a:t>SUPPLY CHAIN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2EDF1"/>
                </a:solidFill>
                <a:latin typeface="Microsoft YaHei"/>
                <a:ea typeface="Microsoft YaHei"/>
                <a:cs typeface="Microsoft YaHei"/>
              </a:rPr>
              <a:t>RISK RADAR</a:t>
            </a:r>
          </a:p>
        </p:txBody>
      </p:sp>
    </p:spTree>
    <p:extLst>
      <p:ext uri="{BB962C8B-B14F-4D97-AF65-F5344CB8AC3E}">
        <p14:creationId xmlns:p14="http://schemas.microsoft.com/office/powerpoint/2010/main" val="1926480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659AE-C0F3-4031-AE0E-A330BACB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/ 项目概览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6325E-BECC-463E-A8AC-E711A774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一套从信号到决策窗口的可运行工具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CE2DC-5D83-4632-9AD3-BC44A7C6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FEBC6-3843-436B-A4AB-A996E43F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产品不是一份静态风险报告，而是一条可复核、可重跑的工作流。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658F7-8C40-49E1-B840-F49915F3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84fb8c6514a64"/>
          <a:stretch xmlns:a="http://schemas.openxmlformats.org/drawingml/2006/main"/>
        </p:blipFill>
        <p:spPr>
          <a:xfrm xmlns:a="http://schemas.openxmlformats.org/drawingml/2006/main">
            <a:off x="6900765" y="1619250"/>
            <a:ext cx="4295969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22503-7A92-4BB5-A3FB-32763E0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5C497-66CE-4917-A375-B915790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335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看清依赖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BB7E1-7EB0-4A69-99CA-3880D5C2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193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供应商 → 组件 → 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EA3CB-3529-484F-A4C9-2479DB14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4F567-7BF1-44E3-B4FA-3EDD19F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765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感知信号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7276C-B2F1-40DA-95F1-F2F1B45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RSS / 文本 → 待核实事件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C4BF2-BD88-4E66-9DE1-DD6FBBDE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698B8-1218-4B85-9F42-0C98BA2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194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量化暴露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93BE5-C92B-4133-95FC-39E7B9C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052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五因子透明评分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AE531-D605-450E-A37B-E50D7E9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4F466-4F6F-40DE-85BF-BA258C0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62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推演缺口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8D72D-63D9-4067-942D-DBBA8B52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库存 / 在途 / 替代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DA561-75B7-4E10-BD85-F9182F2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DF885-8ED8-4D55-AF95-E21DD1E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比较对策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89560-05FE-4789-8FDE-C2ED365A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91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成本、时点与效果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429DF-891A-4E62-A619-3340693C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65A"/>
                </a:solidFill>
                <a:latin typeface="Microsoft YaHei"/>
                <a:ea typeface="Microsoft YaHei"/>
                <a:cs typeface="Microsoft YaHei"/>
              </a:rPr>
              <a:t>可运行 Web 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4B563-4CEC-479F-8588-FCE01F99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810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C78"/>
                </a:solidFill>
                <a:latin typeface="Microsoft YaHei"/>
                <a:ea typeface="Microsoft YaHei"/>
                <a:cs typeface="Microsoft YaHei"/>
              </a:rPr>
              <a:t>六页交互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9909C-227F-4E4E-BB0F-8BDF4E11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rPr>
              <a:t>边界可见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B5D66-F56D-4FBD-9D35-3B220A2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2A355-6679-4452-A373-D10B1D9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C7A45-75A4-42CB-AF7C-747BE8A8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514209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3FBEF9-44E6-46FD-A76C-E10F054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/ 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7DBA8-CA6B-4CA9-AB5D-8C318A49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地缘事件如何传导成企业交付风险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B912E-2C3C-4D52-8DDB-EDE5B49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CC46B-AEE3-406E-889C-8BA2424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2C1BA-DE1F-483A-AB5D-EA7A29D4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5C00B-24BD-4D0B-950A-84E03EE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4F203-024B-497F-B861-E08F9199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出口审查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A57F-58FF-44E7-8E4F-F42795A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许可与清单变化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BFDA6-AED3-4C69-A871-82C2AC9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E038A-5398-48FD-9710-19DDC822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F275C-80ED-4639-B4AD-D0A80D8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LOGISTICS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99790-DE9C-43CA-92E5-667CEC41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A494A-758D-447E-8F91-6274E32C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航运中断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30506-E501-40A1-AA89-8273963B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航线绕行与在途延误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71376-5BD2-4439-A821-E1DE4A0F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3F391-1D92-4096-94E7-7CC0F3C2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37DD2-1337-42C9-A00A-DBB7A59C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VISIBILITY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2A373-9E64-4A74-9A69-474086E3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C0AFF-3586-4B80-9DD9-9BB0925B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信息缺口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30F27-40C6-4CE4-8D41-56D16438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0E704-B704-4C2A-81C6-4EFDD55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3429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ED975-1B13-46B5-8716-426649C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62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FD3E7-D5D5-4977-A052-0D7A0E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1">
                <a:solidFill>
                  <a:srgbClr val="73B7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3B7C4"/>
                </a:solidFill>
                <a:latin typeface="Microsoft YaHei"/>
                <a:ea typeface="Microsoft YaHei"/>
                <a:cs typeface="Microsoft YaHei"/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3D806-7405-4FE7-8870-1A9C1513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2C34E9-A7DF-43C4-8FCB-CC2F006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企业后果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68347-EB2B-4718-9201-AE40335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050" b="0">
                <a:solidFill>
                  <a:srgbClr val="B7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7CBD4"/>
                </a:solidFill>
                <a:latin typeface="Microsoft YaHei"/>
                <a:ea typeface="Microsoft YaHei"/>
                <a:cs typeface="Microsoft YaHei"/>
              </a:rPr>
              <a:t>库存见底 · 排产波动 · 违约压力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6B0809-8AAD-4F4C-B35C-113776CB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企业常见断点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4F78B-1961-4F5E-A463-AB80BF9E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只看到直接供应商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9C65D-FB62-4E48-984D-17210B34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数据散落在部门与表格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27E0F3-0094-4787-912D-CC4931D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信号多但无法判断影响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93E69-67FA-4DDD-9DCE-D59BD0B3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05400"/>
            <a:ext cx="2381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657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65714"/>
                </a:solidFill>
                <a:latin typeface="Microsoft YaHei"/>
                <a:ea typeface="Microsoft YaHei"/>
                <a:cs typeface="Microsoft YaHei"/>
              </a:rPr>
              <a:t>方案比较靠经验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77C3E2-3ED1-483C-9EDC-5F28F08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D1BD85-9C56-4DE6-A958-0B0C84FD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4F465-5E64-4DBD-85B0-BE02C504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935953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0863A-3D0C-4F12-9DE8-40BCC5AD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/ 用户场景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8C358-0A11-400B-84CB-0950EC4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三类角色，共享同一个决策底座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86743-28E9-4BFF-8649-5014491E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980B-776D-4D35-AA6C-996D5E9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81DDC-7319-45C0-B3BB-81D3782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34D0E-6028-4EC4-BB35-42FAD06C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供给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3EC0B-787B-403C-BA3F-E0A5515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采购 / 供应链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81D30-1BE8-4735-9080-4EAFE341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识别脆弱依赖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评估替代来源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51F25-02D6-45EB-8323-1446EC5B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8E5F2-6473-4567-ADA0-1790387F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1B3BC-0E7B-4347-885F-5E70629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排产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6ABDD-82B9-4807-967B-C42F0BF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生产管理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4F52E-8DD7-41A8-A244-CB87B3E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判断库存窗口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安排生产优先级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DB317-3EC7-46F9-896E-28ED4DC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2095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F23FF-574A-41CA-9722-042935EB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1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3289F-5F13-4646-91C8-FE1099A7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3BA70-4DFA-42AE-A5FC-AEDD41A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战略部门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F471F-749A-4576-819D-F197B4B1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追踪政策信号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提前调整策略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0476D-9BC9-4371-A1B1-F289137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3676650" cy="37147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68363-2E98-4A60-90E1-6F42AF2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9144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模拟企业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83D1E-7DE8-4758-9EF5-46086C7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XX 智能装备有限公司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218C2-39F5-4236-AD61-87D3C84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7FC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FC9D3"/>
                </a:solidFill>
                <a:latin typeface="Microsoft YaHei"/>
                <a:ea typeface="Microsoft YaHei"/>
                <a:cs typeface="Microsoft YaHei"/>
              </a:rPr>
              <a:t>关键场景参数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FAE49-4F96-4E71-AB32-D6DB0993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640CD-7B1F-43F9-AFAF-B204ECB4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624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关键进口依赖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56AFA-C3BE-4E9E-8667-2FC4FF61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7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6A59C-5117-4929-9E5E-92A5FDD0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861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12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9E19D-EF5B-4008-A3D8-645E87E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62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安全库存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8FB7D-E166-49D7-BD36-9796552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672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9A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E1FC0-E472-408B-8BC5-237D6DB4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C2FADB-290D-4C26-9362-584C8446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29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待交付订单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F18D50-1775-441E-BA6A-EA8FA13A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34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A98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180A7-F04B-426A-ACCC-13F4B621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529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→ 20 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90B48F-1C56-47A4-88F5-2341B717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292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B0BE"/>
                </a:solidFill>
                <a:latin typeface="Microsoft YaHei"/>
                <a:ea typeface="Microsoft YaHei"/>
                <a:cs typeface="Microsoft YaHei"/>
              </a:rPr>
              <a:t>交期变化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1EEF0D-A1C2-4545-9B0E-14689F58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334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6AD548-B9ED-46D2-ABCB-C967EE8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日本编码器 · 新加坡经销芯片 · 德国工业相机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35DFE5-7AC7-41C2-85F8-83DAD9B2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演示数据全部虚构；真实企业应用需重新配置 BOM、库存、订单和供应商信息。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54425-DA14-482E-B5E3-4034BFD4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D2B865-2C0A-476F-93DF-7CFF6A1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885756-5F46-4715-876D-4838D900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2085910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FB45F-C2C8-4A93-9AB0-15FE6FB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C419F-3D53-462E-96ED-0064A14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决策者真正需要回答的四个问题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DC6A3-3E84-42B3-A33A-1AF2850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3C3E-8884-4BCF-9AAA-2027447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348B3-EE00-4B7D-B506-15AD182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F0398-EAB6-45C4-A2F1-12EFAAF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哪里最脆弱？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45FCE-5230-42EF-A15B-01C0B8FB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6AF9D-3273-43BE-ADF8-3E896105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定位单源、单国和上游信息缺口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63514-8C9A-47CC-A03E-72022F0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73AFE-6031-4E64-9195-82F71E1B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DABDC-0ED2-4F49-8883-B95BE1F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信号影响多大？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FE0DD-2A89-4054-A0AE-8ECF0D4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213ED-7782-4E62-BB77-B76D3CB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432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把新闻与政策关联到具体依赖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688FB-D096-4A5F-B7E8-0B52227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E24B-AE80-4C62-B7DB-E3ABE3F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1EA35-BAF4-42FA-8F73-515C9572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库存能撑多久？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387E5-D685-47E8-95FF-86686977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36E65-2ED6-4C26-81A4-9D1DD60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计入在途、持续补货与替代周期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E505E-9E28-44AE-9314-38EA1D6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76650"/>
            <a:ext cx="51625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9B26-B094-4030-8D7F-068904A9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65F2D-7355-43AC-A755-1DE3E13F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现在做什么？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F2695-EEEE-4333-92C2-E0C21B7F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1FF3A-3E4B-4A65-B7D2-C230013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比较备货、替代与排产协商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1F69C-2F61-4A1C-B7BF-9AC3629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3AA12-B789-4471-9780-2D76187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79E93-AF95-4C03-8DE4-76E6931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4898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B58D65-B997-4AD3-BD47-F42DD12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/ 产品价值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37DAA-67E6-4AEF-A005-13782310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把静态台账变成连续的风险工作流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5FD0-E27D-4FA4-A9D2-B112E154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89810-86E8-4129-887B-E908E17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传统方式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8A6A4-9464-4A73-9C3C-904A557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3EA7D-E3AE-49D8-BA4D-ECB230DA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33ECD-BD9A-4461-B8F0-71A346F6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Excel 台账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6B118-B571-4BBF-80E4-1EAE4BA6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02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84B13-6144-48F4-B19E-25DF164D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C0908-829A-41B0-8B1F-D9FE2342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EFA0-F6FA-4F3F-984F-3FF58AD6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依赖图谱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C2683-FA27-4B4D-A28F-AAEE949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193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持续更新关键依赖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72602-933A-4B8D-8F21-AFEFBC3E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FCFBF-6D8E-45AA-AF6E-84DB5A6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邮件通报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2C0AB-1772-4D0A-A9C1-EE04E82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384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D5DB6-8FF1-4CF7-BF31-AB1F07DB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C2910-15FD-4BC1-8D10-2D20BCA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C6305-CF93-4083-9BA6-9BF72BE9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575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信号雷达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F9DEE-B2C1-413A-A177-9EEDCCA9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57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来源、置信度和状态分离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7AC94-CA71-4731-AB37-C2064D0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7E205-196D-44C4-9BE6-398A0EC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报告订阅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9F29B-EE7D-479D-B2D4-5CB8A33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766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B1050-1C7F-4B6B-BB2B-34B7D040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6D5C0-06BE-40E6-BA77-4F9CFC32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22530-256C-4485-ACE1-3943AB99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95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透明评分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DCDD80-36B2-4075-AA14-A24DFCA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95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分数构成与权重可见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89D8B-D112-4664-B99B-29B7149C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429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81E14-7EB8-439B-B491-43C8C34D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经验判断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1C687-ED3F-412B-943E-74FDC8F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E533A4-B42A-4D51-A4F6-224524C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CC91A-BB45-461B-9473-F25A7E8A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05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63D66-3EF8-4743-A8A8-C9EDF809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339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EDE9AD-EDF4-4079-9E8B-260ED33C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33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回答“如果发生 X”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6D016-565A-4687-948A-DEF99F99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6C78"/>
                </a:solidFill>
                <a:latin typeface="Microsoft YaHei"/>
                <a:ea typeface="Microsoft YaHei"/>
                <a:cs typeface="Microsoft YaHei"/>
              </a:rPr>
              <a:t>可重跑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9FE60-F866-4880-BEC6-685C689A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4ED"/>
          </a:solidFill>
          <a:ln xmlns:a="http://schemas.openxmlformats.org/drawingml/2006/main" w="9525">
            <a:solidFill>
              <a:srgbClr val="E1F4ED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4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45A"/>
                </a:solidFill>
                <a:latin typeface="Microsoft YaHei"/>
                <a:ea typeface="Microsoft YaHei"/>
                <a:cs typeface="Microsoft YaHei"/>
              </a:rPr>
              <a:t>可解释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69B4EF-8D57-4179-8F0B-70D7D46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57850"/>
            <a:ext cx="914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658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65816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07E0E-BCC5-4881-A42D-5748C1C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8D9EEF-AA06-4D65-9799-90C1AA2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6ED5C8-C523-48D4-8661-EF6616CF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362938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B5EE3F-493E-4A0B-AA68-53AD2D0F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06 / 解决方案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F57B-908D-4F71-BA0A-F559816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四步雷达闭环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9E165-398A-4BC0-91C6-D07A399D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97A3B-96F7-43CF-B137-23FB696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3962400" cy="396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06EA-DE23-4162-A36E-D7B5CA0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924" y="2287524"/>
            <a:ext cx="2892552" cy="289255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2BB36-924A-4C05-A4A2-238EE542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2822448"/>
            <a:ext cx="1822704" cy="18227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FB935-59CC-4B9C-B76C-7EED0C1B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772" y="3357372"/>
            <a:ext cx="752856" cy="7528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49FC2-C3B9-419F-8048-D6D8A347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B17A4-B2C3-48A9-8D61-D0B0500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5260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B94A6-C935-4BE4-B4A4-00EFBAD2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36" y="2307336"/>
            <a:ext cx="2852928" cy="2852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E6A4F-3281-4431-B613-25EE350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7736" y="2307336"/>
            <a:ext cx="2852928" cy="28529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51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02B58-D93E-4C75-BCDF-156CAF3A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15" y="32899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782D2-EDD9-41B4-A796-8276006B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134" y="266071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0CC0E-4CF8-465D-844E-8591935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157" y="397859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80635F-E993-4AB0-B6FA-B81B2ADF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356" y="48249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29B99-B0CA-44D3-BD1A-BD377B9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884" y="45476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A6736-590D-4C8F-B222-FC29B6BC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923" y="346271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12A11-AACB-4AEB-AEC3-4F08648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24200" y="2703576"/>
            <a:ext cx="1545336" cy="10302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B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0C56F-5D71-4FA5-B4C6-BF37E6E7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D7A5D-09A9-4966-9968-FF8284DB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A9DEA-2761-42A8-AD15-7502E0F9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24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依赖建模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D6057-93E3-41F0-989A-738571E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看清供应商—组件—订单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2F9AB-6464-4F9F-99F6-C3B50AF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B9F4F-FF19-44D6-A44E-FB921CD6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6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B59D6-395F-486F-A147-4E4882B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信号感知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66382-7566-4341-8E7B-1C05A881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05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把文本变成待核实事件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A556F-8C77-4F4C-9D67-ECF3DBF7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AD1536-104B-4141-B975-9607B015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8A28E-88B6-449F-8977-A333BFC7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暴露评估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03208-13AD-42D8-877C-B671256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33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五因子透明计分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FC7CE-3307-4108-8053-5234307B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C72FC4-01B0-4FC3-8DEB-D02460B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558A9-E000-46EB-BA3F-0D65ABD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5CF84-9A27-4FA5-AA1A-8864566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625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C1CC"/>
                </a:solidFill>
                <a:latin typeface="Microsoft YaHei"/>
                <a:ea typeface="Microsoft YaHei"/>
                <a:cs typeface="Microsoft YaHei"/>
              </a:rPr>
              <a:t>比较缺口与应对窗口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C6686-5B2A-4F5D-8D3C-C5DE30A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结果反向暴露数据缺口，再回到依赖建模和信号配置。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1F736F-72FC-4259-A8DA-1E3BD99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7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D0C6E4-FF17-4018-901C-2EF6897B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11964-8DC0-4302-B6B7-FF5F232F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8920130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67FBC-84BF-4E68-BBBB-B4B24B6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 / AI 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E21A9-E809-45A9-AD6D-3315485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AI、规则引擎和人工各自负责什么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15393-6A55-4484-93B7-60816397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C2E2A-4950-4964-816E-3F0CCBF5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7ABF4-5A65-4AB6-8135-62F2DE5E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06BC9-217B-4597-B25C-C1CE4AF4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结构化抽取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37F9-3FAB-42B0-88E6-2B39AC83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56762-5DCD-4048-87E1-6F7F75E4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识别主体、国家和措施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E052C-6F4D-4EB7-A0FF-B8AD5629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E138C-ECC9-450D-830E-2E7C357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生成摘要与注意事项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5B726-D311-43FC-9469-2E80D4FE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027F3-ABD0-4DDA-885D-D82C32E9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输出必须带来源和置信度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F1644-89CF-4101-906E-4407CA9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3E91A-DFDC-41B6-A4E2-6A8099D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0E6A7-1C1C-4DAF-A8CB-283BECC2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F3AA5-F5A0-4939-A48C-4457626D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812D1-9FF5-4573-9915-C7ED8CD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五因子暴露度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AD8C1-983B-4600-9EC1-61C45B6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5E3C5-67BA-4DEE-A4B5-DC18D16F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库存与交期离散推演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DE127-09B2-4686-A866-AD0E5E04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549FB-3044-4607-9BD8-DC46F9D6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方案成本与窗口比较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C9450-30DA-42FD-8454-426FD77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3371850" cy="35623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F484D-99F6-4C71-8107-CBFA34B5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1F04F-6433-4FCA-AFE6-E1C356B4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核实与决策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F9E4B-E2EA-4090-9CBE-D7EB14A9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77340-70EB-4246-B07F-5C14745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确认来源与影响对象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7D023-CB5D-4E52-8495-81981274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08D59-85BA-4260-960B-945782A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校准库存、交期和替代周期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12311-4216-4D42-AE73-EABC945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A3983-B31A-4A57-B945-89F55C68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批准事件进入正式结论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3FCBD9-729F-4259-8352-78AA2E5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725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3C85E6-05E4-447D-8505-19F10C8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原则：模型不能批准事件生效；待核实、传闻和低置信度内容默认不进入评分与推演。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4A8B8-066D-4122-840A-8B9CCC2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2EB557-7647-4DD6-A289-84C88E22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3CAC8-785E-4684-9EA3-31E691C9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293800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B5E5F-1442-41B6-8893-967C693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A6628-F2C1-44AD-AC98-8E0A09A0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依赖图谱：把上游盲区画出来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D9D5F-C0C3-4CDA-BDBC-216198E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EB24A-4082-42DE-A2DE-8F772C5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7152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55533d9d24ed2"/>
          <a:stretch xmlns:a="http://schemas.openxmlformats.org/drawingml/2006/main"/>
        </p:blipFill>
        <p:spPr>
          <a:xfrm xmlns:a="http://schemas.openxmlformats.org/drawingml/2006/main">
            <a:off x="1541689" y="1524000"/>
            <a:ext cx="5660571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8F7E1-CD7F-4476-9676-BB41343C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D3832-1089-4540-B774-D6B6F63E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18132-D835-43C8-A5F9-F0B205A9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697CB-BE85-4F39-B9BB-D15A39C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供应商、组件、订单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2C175-C07B-49A3-8D5F-B2969A5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BE67-D3B3-40E0-929A-8B824BF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17815-C3D3-4A99-8500-9F53EBCE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A392C-9CB6-4445-83D8-A779FB2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67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依赖与订单需求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1D1F5-71C2-4836-97EE-1EC0DBA2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29100"/>
            <a:ext cx="2952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C8EA8-1F1A-48E4-8A01-32E88D2A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红色虚线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7DC84-DE99-4962-A740-3D34A58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62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信息缺口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C9533-F44C-4CCF-A03F-1602B77A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625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F2448-289C-45C6-B2C7-6B6873F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73381-7F28-4ADF-B524-0324FC4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9969C-92A2-41B8-A9FC-2F312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774009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AD7E7-AEA9-455B-A641-3183C280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32A63-55F7-4E70-A66E-7A3E659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信号雷达：真实抓取不等于事实确认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7FC0C-BF06-4CE5-A028-EB2D390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9DAE5-311D-4014-9AF4-18ACB2B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524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cd0b9e1164788"/>
          <a:stretch xmlns:a="http://schemas.openxmlformats.org/drawingml/2006/main"/>
        </p:blipFill>
        <p:spPr>
          <a:xfrm xmlns:a="http://schemas.openxmlformats.org/drawingml/2006/main">
            <a:off x="6432291" y="1504950"/>
            <a:ext cx="4851918" cy="36576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D0B2-54DB-4A77-9E36-92089DAD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17BEF-F2B0-474D-BA92-3236688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RSS / 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5BBB3-55E2-4E91-9120-07F0FE53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保留来源 URL 与发布时间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7418B-A058-4CA2-9F73-027A2EC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CCFA9-85F4-4457-9B07-D056368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8F5C7-C84F-4052-B37D-F8F06845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AI 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4A890-AD5B-4B38-ACA6-F0D73393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主体、措施、影响对象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87EB9-8186-4E2D-B389-43C8A03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0DD39-EC1F-4149-A655-976E5943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249D2-F776-4B93-B09E-08CCDFEF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待核实池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9D988-6E5E-4DFB-9150-9CDCF70B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所有新事件强制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CB7EE-468B-4350-A5E3-1C3B7C52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4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5642B-4D80-4940-AFA1-229CF8F9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45EFB-5142-4898-8842-BDEBE95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55A52-C8A3-4532-9509-02D2B41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批准后才进入默认结论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56920-64AF-4FD4-988D-5B04F47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744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1C7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8C2AF-4642-48C0-AC61-A2B41B77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7B4B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B4B16"/>
                </a:solidFill>
                <a:latin typeface="Microsoft YaHei"/>
                <a:ea typeface="Microsoft YaHei"/>
                <a:cs typeface="Microsoft YaHei"/>
              </a:rPr>
              <a:t>可信边界：公开新闻可能只有标题与摘要；系统不会声称已阅读全文，也不会自动认定与模拟供应商存在真实关联。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3A935-FFB3-4ADC-8C56-44A80F7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EDFAE-1354-46B9-A642-A55EFBCF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90D32-EA77-49EA-9137-9DE1625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2021617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1332DA-61E5-47E2-885F-5F9A0BF4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08296-110F-4A2C-8CFC-54F9F44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暴露度：71.5 分是如何构成的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0B3AC-CB08-4BFB-AED8-38CF249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94BA8-2826-4817-81ED-56DE555B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952750" cy="4095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99721-3EE3-4CEF-A564-948BEA0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95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5F21A-BC64-485B-BC8C-F84DB34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71.5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59629-9DD0-461C-830F-B637BD51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8FB0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B0BF"/>
                </a:solidFill>
                <a:latin typeface="Microsoft YaHei"/>
                <a:ea typeface="Microsoft YaHei"/>
                <a:cs typeface="Microsoft YaHei"/>
              </a:rPr>
              <a:t>/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CA8B4-58BA-4683-BCDA-345A8D1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工业控制芯片ICX-774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67C37-C1BF-4E7A-918B-4A731D7A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风险等级：高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10D74-E790-40C6-85BB-0AF9C7CD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A9C1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C1CC"/>
                </a:solidFill>
                <a:latin typeface="Microsoft YaHei"/>
                <a:ea typeface="Microsoft YaHei"/>
                <a:cs typeface="Microsoft YaHei"/>
              </a:rPr>
              <a:t>主要风险因子：信息可见性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DB36C-29E4-44E5-B041-72D0717A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33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集中度风险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88136-1FD3-45A6-A977-94EBF5CD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BC427-2D60-4062-B2AE-99CEACE5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526E9-A64B-4346-9291-F3468208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28825"/>
            <a:ext cx="2166938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D0C21-5358-40B2-B32D-7114EFDA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47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事件强度风险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0FCC0-F867-4AA2-988B-C6DBC548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4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85B5B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EF305-F73D-42F7-8101-8DB18CB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FC506-AE89-4D3A-9FD7-37C808F9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2000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8512E-8D0F-491C-B496-D10DB265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62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可替代性风险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528A4-085A-4C49-8CA3-75F415C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03245-71C8-4071-9B75-999FC77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5757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67BA6-AB03-4ACE-BB1D-EF86FCAD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57575"/>
            <a:ext cx="2667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E332E-35CD-4EC2-A5FA-D83B5DD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66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库存缓冲风险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20340-B345-4430-9457-4FF88BD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766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6828C-0B53-4D2F-AA10-621EB66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71950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E53B4-66B8-47A6-942D-DB83079B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71950"/>
            <a:ext cx="166687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8E1E07-9639-4E72-B1D2-DB6973F7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838"/>
                </a:solidFill>
                <a:latin typeface="Microsoft YaHei"/>
                <a:ea typeface="Microsoft YaHei"/>
                <a:cs typeface="Microsoft YaHei"/>
              </a:rPr>
              <a:t>信息可见性风险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F6D6E-7307-42A2-9F4E-3154F0BC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91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9DC6F8-A783-4A07-8D5F-5D250C07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3"/>
          </a:solidFill>
          <a:ln xmlns:a="http://schemas.openxmlformats.org/drawingml/2006/main" w="9525">
            <a:solidFill>
              <a:srgbClr val="E9F0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8D445-290E-4227-800E-0FA82DF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86325"/>
            <a:ext cx="3333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BB0D0-7CE6-4047-9869-40497EAE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524250" cy="35433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2ebf49c3e4707"/>
          <a:stretch xmlns:a="http://schemas.openxmlformats.org/drawingml/2006/main"/>
        </p:blipFill>
        <p:spPr>
          <a:xfrm xmlns:a="http://schemas.openxmlformats.org/drawingml/2006/main">
            <a:off x="8020050" y="2077183"/>
            <a:ext cx="3333750" cy="2513135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60751-9C18-4D63-8E1A-40DA7F98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626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默认权重为赛题场景的主观设定；界面可调，敏感性检查仅覆盖局部扰动。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468FFE-C65F-448A-85F7-0031A90D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F11CC-3176-44AB-A7FE-3C40C62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0F033-A93F-4CD8-94E0-CB22A85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780693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8306C-9AE2-49F2-B70B-4EB5AA1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D38FE-0779-4403-950D-22A44E9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情景推演：第 18 周首次出现当周缺口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55B2-7189-452B-9B7C-C30F8F9A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7239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18d1b34acf47b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56C27-CA16-4C2A-90CD-E159AD87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00400" cy="35242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82BD-D831-4110-B568-D667BE7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723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71F20-FA9F-4A15-85A8-924185DB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120 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B29A-F327-4F11-A2FE-99582AC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期初库存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62FD-A7E6-456D-8E1D-476C4FA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74C5B-D88A-481A-8B7B-445810F8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50 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EC9B5-698E-4732-833F-A509D614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FF55E-6EC1-43DD-B8D0-BE77326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24396-0B74-4314-8630-9A264A41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第 18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9946D-9A89-447F-A4C6-B9584E4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首个缺口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7A673-E517-474B-9445-DA7CEBAB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05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5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27B59-0F36-41A1-9B2F-F521951F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0 受影响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579AF-2483-461C-A6A1-F3AD051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现有订单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4B007-61C5-47DD-8CBD-1BB242DB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053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A98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05F6D-FCFC-4E54-8E18-F88BF74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第 17 周末库存恰好归零；第 18 周才出现无法满足的当周用量。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B79DE-89D9-40FD-A770-D4B74BCD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3390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1e5562250492e"/>
          <a:srcRect xmlns:a="http://schemas.openxmlformats.org/drawingml/2006/main" l="0" t="37366" r="0" b="37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5486400"/>
            <a:ext cx="3200400" cy="6096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9C8487-55E7-42F2-85C3-3CED9B0F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15CB7-03B3-4C2B-9053-74D72A57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9D7CC8-6672-45CC-9305-8DFF72A2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3787744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300B9-BECD-4985-9090-40FA1D12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951CE-AD1F-42D5-8064-61EC0F4A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应对方案：比较窗口，而不是只看成本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14B1A-59EE-4EA3-A19C-8C334BB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7700" y="1695450"/>
          <a:ext xmlns:a="http://schemas.openxmlformats.org/drawingml/2006/main" cx="10896600" cy="3390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1190625"/>
                <a:gridCol w="762000"/>
                <a:gridCol w="1428750"/>
                <a:gridCol w="5276850"/>
              </a:tblGrid>
              <a:tr h="5651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首次缺口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成本示意（元）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关键说明</a:t>
                      </a:r>
                    </a:p>
                  </a:txBody>
                  <a:tcPr marL="91440" marR="91440" marT="45720" marB="45720" anchor="ctr">
                    <a:solidFill>
                      <a:srgbClr val="08253A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基准（无应对）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18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现状模拟，作为对比基线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增加安全库存（+8 周）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26 周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544000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成本≈资金占用，未计仓储与资金成本率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启动替代供应商（第 18 周后）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244800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成本≈认证/样品示意 + 按 20% 溢价的窗口期采购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组合：加库存 + 替代供应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不断供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788800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库存先顶住认证窗口，替代就绪后接管</a:t>
                      </a:r>
                    </a:p>
                  </a:txBody>
                  <a:tcPr marL="91440" marR="91440" marT="45720" marB="45720" anchor="ctr">
                    <a:solidFill>
                      <a:srgbClr val="E1F4ED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排产与客户协商（定性）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18 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028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priority 优先保障高优先级订单；低优先级订单协商顺延/分批。不改变断供点，但可把风险转为商务协商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52BCF-9D29-4D3F-9C02-24A10826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优先观察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3B7B7-20C1-487D-A6D8-F8BFCCCE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530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组合方案用额外库存覆盖替代认证窗口；成本仅为数量级示意，需要现金流与采购验证。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86C5D-15F4-4C15-B4A6-7E97746C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BD6EE-1B6C-4014-8018-5E963276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BDC82-0691-4018-A5B2-312FFB9C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5910688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54DDD-B23E-469F-A406-7C704B3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 / 用例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E1B5B-191B-40FF-9C9E-B849C78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两个用例，展示不同的传导机制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6ACC0-B8C3-4BDE-9701-147879C8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C7D13-7010-4906-90B3-46E09FD6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85900"/>
            <a:ext cx="52959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fbe55e1a24677"/>
          <a:stretch xmlns:a="http://schemas.openxmlformats.org/drawingml/2006/main"/>
        </p:blipFill>
        <p:spPr>
          <a:xfrm xmlns:a="http://schemas.openxmlformats.org/drawingml/2006/main">
            <a:off x="6470585" y="1581150"/>
            <a:ext cx="492773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D5D51-979B-43F9-8642-B89BCAC1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CFC92-63CC-4E4D-8F72-93322E6F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03A0A-5117-42B1-9143-D2364A18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62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日本编码器出口审查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CB78A-9E6C-4025-A139-A5DD41BA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384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交期 8 → 20 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713BD-92B0-4152-BC2B-186625FC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3840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FFF0DE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85916"/>
                </a:solidFill>
                <a:latin typeface="Microsoft YaHei"/>
                <a:ea typeface="Microsoft YaHei"/>
                <a:cs typeface="Microsoft YaHei"/>
              </a:rPr>
              <a:t>第 18 周首次缺口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BED11-12F4-4442-997B-0047FD93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三批现有订单的交付周未见当周缺口；重点是对后续新增订单发出窗口预警。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CD585-ACE8-433E-8B99-BA2DD31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143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A198E-E717-40E2-AEBC-D53B0DB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B"/>
          </a:solidFill>
          <a:ln xmlns:a="http://schemas.openxmlformats.org/drawingml/2006/main" w="9525">
            <a:solidFill>
              <a:srgbClr val="D85B5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22555-6D54-4C38-B959-36D1F38C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红海航运延误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30DF1-10A3-47F6-B6A6-27213A19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在途整体延后 4 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A2E7A-4520-4D12-9D58-196F3E6E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1695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63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63A3A"/>
                </a:solidFill>
                <a:latin typeface="Microsoft YaHei"/>
                <a:ea typeface="Microsoft YaHei"/>
                <a:cs typeface="Microsoft YaHei"/>
              </a:rPr>
              <a:t>第 17 周首次缺口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A8F43-2F7C-45DD-BB5D-95407611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三批现有订单的交付周未见当周缺口；重点是对后续新增订单发出窗口预警。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D5D4A-367F-4BBA-849F-003ECEB0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3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9A5A3-8F41-4CE1-AD79-3377488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我们不为了“冲击力”虚构订单损失：受影响订单为 0 也是一个需要如实展示的结果。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6D7A1-8F58-4E90-A5E2-2EE70A4D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76B85-8285-4020-AF5A-59D0871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59034-11EF-4872-9AEE-FB09149F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55872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16DA50-EF13-4621-AA1E-8019DF9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14 / 可信边界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030FE-4D6B-43A7-B10C-4EAE966E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系统知道什么时候不该下结论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BAEF-9E44-4C33-B8C1-4F689071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5A8B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03EA9-973C-44F8-82E4-7E30521A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816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334B"/>
          </a:solidFill>
          <a:ln xmlns:a="http://schemas.openxmlformats.org/drawingml/2006/main" w="9525">
            <a:solidFill>
              <a:srgbClr val="24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49E2F-D987-4418-A64A-5E174976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8678A-8C70-4697-8EE6-50DFF70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上游授权关系不明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3C987-D2EE-4609-8456-9EAC0C3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信息可见性风险 =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34CD9-97C9-4D02-86C6-B9317B2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5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8BCEE-5726-419A-AF73-8AB98D48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rPr>
              <a:t>输出尽调建议，不猜测原厂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54641-EEDC-4024-B03B-961FFDDD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51816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D334B"/>
          </a:solidFill>
          <a:ln xmlns:a="http://schemas.openxmlformats.org/drawingml/2006/main" w="9525">
            <a:solidFill>
              <a:srgbClr val="245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2FE87-6962-451F-BB66-16492B3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 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404B6-C8E9-4537-A452-B868B5D3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媒体报道置信度不足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4BBCB-FBDA-423D-821F-AA3AA33B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7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状态 =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76B9B-A40F-411A-A923-6D5B255E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51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DC76A-D138-437D-80F8-D7CDAAC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CBD4"/>
                </a:solidFill>
                <a:latin typeface="Microsoft YaHei"/>
                <a:ea typeface="Microsoft YaHei"/>
                <a:cs typeface="Microsoft YaHei"/>
              </a:rPr>
              <a:t>默认不进评分与推演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3FB33-21C9-4A81-9B75-67B4616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1">
                <a:solidFill>
                  <a:srgbClr val="8FB2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B2C0"/>
                </a:solidFill>
                <a:latin typeface="Microsoft YaHei"/>
                <a:ea typeface="Microsoft YaHei"/>
                <a:cs typeface="Microsoft YaHei"/>
              </a:rPr>
              <a:t>证据成熟度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F3F2C-E683-4103-B852-173C8A2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8A8"/>
          </a:solidFill>
          <a:ln xmlns:a="http://schemas.openxmlformats.org/drawingml/2006/main" w="9525">
            <a:solidFill>
              <a:srgbClr val="19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91BA3-0245-4889-A7FB-ADC4210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抓取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ADBD-3EFB-4143-BAE4-86ADAE6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01739-E68D-407D-88D1-B127FD64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2752C-9C35-46DA-9119-4491E5D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抽取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BD07F-0AB7-4412-B7F7-17BE55CB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D2BC2-EF76-4E88-ABFC-E2B4942B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E8653-1251-4129-8767-0B622BB8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待核实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3F16C-7A7D-45EE-86FF-5216006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2CE315-3696-45DA-855B-E8EB5B1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981"/>
          </a:solidFill>
          <a:ln xmlns:a="http://schemas.openxmlformats.org/drawingml/2006/main" w="9525">
            <a:solidFill>
              <a:srgbClr val="2AA98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E50BE-2E77-43F7-B647-678FC91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FA69F-1342-439B-8CB8-29E86CA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2197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657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7BAE2-F7BC-4D20-A6FA-2DB42AF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24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578B9-0635-4AA3-BA12-DCEAD573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E41C2-8913-4389-94D8-6534483B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7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6BF53-9624-4B28-A353-9571468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DDB2F-C43D-4651-8E0F-B4D0E38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699AA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5341839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7E840-FD99-4D21-9046-8A404FD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验证与迭代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A7931-4D94-4E11-A529-2E01BFD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可运行、可回归、可复核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8EE6D-5722-42B9-BB50-0EF693BC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A1A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2FEFA-0033-431D-AFF7-081319E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EE3DD-00B1-4157-9A66-38638E02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978A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D1D3D-1F11-4F1B-9404-812E7CB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案例断言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F0B8A-86DB-45FD-A668-982CA421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A–D 自动化回归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40A28-36AF-4072-BBA3-BE2CBD66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F94D0-409C-49CA-A50C-B3F8D937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C23BC-412D-4DEC-8EE2-A40FF72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离线单元测试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96189-3024-4EA4-B5F6-CA8F3FD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模型 / 导入 / 报告边界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32FA0-895E-44D1-96B6-747726D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FD253-9475-47A5-80B0-C094A974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29A3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DEDB3-EE6A-4006-B651-EE40E5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交互页面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4CAFF-67FC-4DEF-A1CC-EC258CA8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逐页浏览无异常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97D8C-1B0F-4C57-87C7-0D37395F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4193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B2751-8A6B-489C-A82E-6B696DC0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669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315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A9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AD791-8B01-4143-8854-0FE8C34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介绍页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6B9B7-71E2-4B04-B849-DFDDF91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PPT 结构校验通过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1329A-C587-4D82-A5AC-4C6649BD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已知局限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945C0-B8E5-48C4-BDE7-80636CD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E22F1-D9DD-41C6-817D-DD775B9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企业与业务数据为赛题模拟，真实部署需重新标定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97646-7EA5-4EE7-9C4A-66BB29E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A9A8D-7282-4061-AF9D-173E2C1B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冲突报道尚未做多来源一致性消解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C314C-5A14-42A6-9A60-1BFDA1C6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A3F"/>
          </a:solidFill>
          <a:ln xmlns:a="http://schemas.openxmlformats.org/drawingml/2006/main" w="9525">
            <a:solidFill>
              <a:srgbClr val="F29A3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51A51-5158-4A18-B37B-B2FE4AF4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986"/>
                </a:solidFill>
                <a:latin typeface="Microsoft YaHei"/>
                <a:ea typeface="Microsoft YaHei"/>
                <a:cs typeface="Microsoft YaHei"/>
              </a:rPr>
              <a:t>订单影响是交付周供给筛查，不等于排产保证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3AFBA-F367-466F-BC0C-67B66434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50673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8253A"/>
          </a:solidFill>
          <a:ln xmlns:a="http://schemas.openxmlformats.org/drawingml/2006/main" w="9525">
            <a:solidFill>
              <a:srgbClr val="08253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B5C15-0DE1-4031-90B5-A2D757C0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B7C9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D2314-7F8D-424A-8D41-8023E89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真实企业调研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在线部署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多来源冲突消解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A3675-5F00-4FD2-9419-1E7E94D4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054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7C9"/>
          </a:solidFill>
          <a:ln xmlns:a="http://schemas.openxmlformats.org/drawingml/2006/main" w="9525">
            <a:solidFill>
              <a:srgbClr val="25B7C9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253A"/>
                </a:solidFill>
                <a:latin typeface="Microsoft YaHei"/>
                <a:ea typeface="Microsoft YaHei"/>
                <a:cs typeface="Microsoft YaHei"/>
              </a:rPr>
              <a:t>地缘风险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E052A8-1377-4EDB-889C-A1A3ECF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4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7BB52B-9945-4312-B7B5-9B89BAC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地缘风险｜西北民族大学｜林明强 · 陈治希 · 李宇欣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19030B-8327-4A18-8861-3612B11C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572250"/>
            <a:ext cx="335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0A4AE"/>
                </a:solidFill>
                <a:latin typeface="Microsoft YaHei"/>
                <a:ea typeface="Microsoft YaHei"/>
                <a:cs typeface="Microsoft YaHei"/>
              </a:rPr>
              <a:t>模拟数据 · 不构成现实经营建议</a:t>
            </a:r>
          </a:p>
        </p:txBody>
      </p:sp>
    </p:spTree>
    <p:extLst>
      <p:ext uri="{BB962C8B-B14F-4D97-AF65-F5344CB8AC3E}">
        <p14:creationId xmlns:p14="http://schemas.microsoft.com/office/powerpoint/2010/main" val="1336140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2026-09-20T07:49:15.4490000Z</dcterms:created>
  <dcterms:modified xsi:type="dcterms:W3CDTF">2026-09-20T07:49:15.4490000Z</dcterms:modified>
</coreProperties>
</file>