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df2e270b8344a3" /><Relationship Type="http://schemas.openxmlformats.org/officeDocument/2006/relationships/extended-properties" Target="/docProps/app.xml" Id="R02c24e1a074d4067" /><Relationship Type="http://schemas.openxmlformats.org/officeDocument/2006/relationships/officeDocument" Target="/ppt/presentation.xml" Id="R2a13e004949749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8c4a2879294b6d"/>
  </p:sldMasterIdLst>
  <p:notesMasterIdLst>
    <p:notesMasterId xmlns:r="http://schemas.openxmlformats.org/officeDocument/2006/relationships" r:id="R41e51f05b47e428e"/>
  </p:notesMasterIdLst>
  <p:sldIdLst>
    <p:sldId xmlns:r="http://schemas.openxmlformats.org/officeDocument/2006/relationships" id="256" r:id="Rfe493e5c331b49ef"/>
    <p:sldId xmlns:r="http://schemas.openxmlformats.org/officeDocument/2006/relationships" id="257" r:id="R74edf13dd7004182"/>
    <p:sldId xmlns:r="http://schemas.openxmlformats.org/officeDocument/2006/relationships" id="258" r:id="R229b83dad82d4662"/>
    <p:sldId xmlns:r="http://schemas.openxmlformats.org/officeDocument/2006/relationships" id="259" r:id="Rb2236ac36c554a8a"/>
    <p:sldId xmlns:r="http://schemas.openxmlformats.org/officeDocument/2006/relationships" id="260" r:id="R54ca860b47384052"/>
    <p:sldId xmlns:r="http://schemas.openxmlformats.org/officeDocument/2006/relationships" id="261" r:id="R18458a571b3942f3"/>
    <p:sldId xmlns:r="http://schemas.openxmlformats.org/officeDocument/2006/relationships" id="262" r:id="Rb67fe6a584b640d1"/>
    <p:sldId xmlns:r="http://schemas.openxmlformats.org/officeDocument/2006/relationships" id="263" r:id="R671a9b72c486410e"/>
    <p:sldId xmlns:r="http://schemas.openxmlformats.org/officeDocument/2006/relationships" id="264" r:id="Rcc041793037140d2"/>
    <p:sldId xmlns:r="http://schemas.openxmlformats.org/officeDocument/2006/relationships" id="265" r:id="R094a830a3a714aba"/>
    <p:sldId xmlns:r="http://schemas.openxmlformats.org/officeDocument/2006/relationships" id="266" r:id="R786a9a78c3fb4a9a"/>
    <p:sldId xmlns:r="http://schemas.openxmlformats.org/officeDocument/2006/relationships" id="267" r:id="R33aea50eae3f483f"/>
    <p:sldId xmlns:r="http://schemas.openxmlformats.org/officeDocument/2006/relationships" id="268" r:id="Rd7f4060703d84808"/>
    <p:sldId xmlns:r="http://schemas.openxmlformats.org/officeDocument/2006/relationships" id="269" r:id="R0aeddaf934404387"/>
    <p:sldId xmlns:r="http://schemas.openxmlformats.org/officeDocument/2006/relationships" id="270" r:id="R93b753a38aab430a"/>
    <p:sldId xmlns:r="http://schemas.openxmlformats.org/officeDocument/2006/relationships" id="271" r:id="Rbf6bccac5b9143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096b2a39c04eb5" /><Relationship Type="http://schemas.openxmlformats.org/officeDocument/2006/relationships/slideMaster" Target="/ppt/slideMasters/slideMaster1.xml" Id="R8e8c4a2879294b6d" /><Relationship Type="http://schemas.openxmlformats.org/officeDocument/2006/relationships/notesMaster" Target="/ppt/notesMasters/notesMaster1.xml" Id="R41e51f05b47e428e" /><Relationship Type="http://schemas.openxmlformats.org/officeDocument/2006/relationships/presProps" Target="/ppt/presProps.xml" Id="Rb635d17efc7d4845" /><Relationship Type="http://schemas.openxmlformats.org/officeDocument/2006/relationships/tableStyles" Target="/ppt/tableStyles.xml" Id="R7c0c5faeeda14c60" /><Relationship Type="http://schemas.openxmlformats.org/officeDocument/2006/relationships/slide" Target="/ppt/slides/slide1.xml" Id="Rfe493e5c331b49ef" /><Relationship Type="http://schemas.openxmlformats.org/officeDocument/2006/relationships/slide" Target="/ppt/slides/slide2.xml" Id="R74edf13dd7004182" /><Relationship Type="http://schemas.openxmlformats.org/officeDocument/2006/relationships/slide" Target="/ppt/slides/slide3.xml" Id="R229b83dad82d4662" /><Relationship Type="http://schemas.openxmlformats.org/officeDocument/2006/relationships/slide" Target="/ppt/slides/slide4.xml" Id="Rb2236ac36c554a8a" /><Relationship Type="http://schemas.openxmlformats.org/officeDocument/2006/relationships/slide" Target="/ppt/slides/slide5.xml" Id="R54ca860b47384052" /><Relationship Type="http://schemas.openxmlformats.org/officeDocument/2006/relationships/slide" Target="/ppt/slides/slide6.xml" Id="R18458a571b3942f3" /><Relationship Type="http://schemas.openxmlformats.org/officeDocument/2006/relationships/slide" Target="/ppt/slides/slide7.xml" Id="Rb67fe6a584b640d1" /><Relationship Type="http://schemas.openxmlformats.org/officeDocument/2006/relationships/slide" Target="/ppt/slides/slide8.xml" Id="R671a9b72c486410e" /><Relationship Type="http://schemas.openxmlformats.org/officeDocument/2006/relationships/slide" Target="/ppt/slides/slide9.xml" Id="Rcc041793037140d2" /><Relationship Type="http://schemas.openxmlformats.org/officeDocument/2006/relationships/slide" Target="/ppt/slides/slide10.xml" Id="R094a830a3a714aba" /><Relationship Type="http://schemas.openxmlformats.org/officeDocument/2006/relationships/slide" Target="/ppt/slides/slide11.xml" Id="R786a9a78c3fb4a9a" /><Relationship Type="http://schemas.openxmlformats.org/officeDocument/2006/relationships/slide" Target="/ppt/slides/slide12.xml" Id="R33aea50eae3f483f" /><Relationship Type="http://schemas.openxmlformats.org/officeDocument/2006/relationships/slide" Target="/ppt/slides/slide13.xml" Id="Rd7f4060703d84808" /><Relationship Type="http://schemas.openxmlformats.org/officeDocument/2006/relationships/slide" Target="/ppt/slides/slide14.xml" Id="R0aeddaf934404387" /><Relationship Type="http://schemas.openxmlformats.org/officeDocument/2006/relationships/slide" Target="/ppt/slides/slide15.xml" Id="R93b753a38aab430a" /><Relationship Type="http://schemas.openxmlformats.org/officeDocument/2006/relationships/slide" Target="/ppt/slides/slide16.xml" Id="Rbf6bccac5b9143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83eb6f8dd540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b90366ba334830" /><Relationship Type="http://schemas.openxmlformats.org/officeDocument/2006/relationships/notesMaster" Target="/ppt/notesMasters/notesMaster1.xml" Id="R3b1afaf09f0848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fae993393649b3" /><Relationship Type="http://schemas.openxmlformats.org/officeDocument/2006/relationships/notesMaster" Target="/ppt/notesMasters/notesMaster1.xml" Id="Rd77b559a65ff49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5c64b723b54316" /><Relationship Type="http://schemas.openxmlformats.org/officeDocument/2006/relationships/notesMaster" Target="/ppt/notesMasters/notesMaster1.xml" Id="Rc07d6bcd36f64e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8840e83b7e4b5c" /><Relationship Type="http://schemas.openxmlformats.org/officeDocument/2006/relationships/notesMaster" Target="/ppt/notesMasters/notesMaster1.xml" Id="Rae36c13acc9b40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94ed2b2eee479f" /><Relationship Type="http://schemas.openxmlformats.org/officeDocument/2006/relationships/notesMaster" Target="/ppt/notesMasters/notesMaster1.xml" Id="R371709f29d6243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6368608cca4954" /><Relationship Type="http://schemas.openxmlformats.org/officeDocument/2006/relationships/notesMaster" Target="/ppt/notesMasters/notesMaster1.xml" Id="R88b19be3ddad41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940a5f9856408c" /><Relationship Type="http://schemas.openxmlformats.org/officeDocument/2006/relationships/notesMaster" Target="/ppt/notesMasters/notesMaster1.xml" Id="R31222055f0024e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ef7068624e4370" /><Relationship Type="http://schemas.openxmlformats.org/officeDocument/2006/relationships/notesMaster" Target="/ppt/notesMasters/notesMaster1.xml" Id="Rc10c68b3961549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ff30c87eba40ac" /><Relationship Type="http://schemas.openxmlformats.org/officeDocument/2006/relationships/notesMaster" Target="/ppt/notesMasters/notesMaster1.xml" Id="R1c28eaa53b8142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d42654381545a0" /><Relationship Type="http://schemas.openxmlformats.org/officeDocument/2006/relationships/notesMaster" Target="/ppt/notesMasters/notesMaster1.xml" Id="R09a0cdfc4a1846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04cf2f7023489c" /><Relationship Type="http://schemas.openxmlformats.org/officeDocument/2006/relationships/notesMaster" Target="/ppt/notesMasters/notesMaster1.xml" Id="Rd3682368d8b547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139f3214404262" /><Relationship Type="http://schemas.openxmlformats.org/officeDocument/2006/relationships/notesMaster" Target="/ppt/notesMasters/notesMaster1.xml" Id="R5b9a9d48a1da45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e3e53ab3dd14a64" /><Relationship Type="http://schemas.openxmlformats.org/officeDocument/2006/relationships/notesMaster" Target="/ppt/notesMasters/notesMaster1.xml" Id="R1e731840c54142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ff83f341a340c9" /><Relationship Type="http://schemas.openxmlformats.org/officeDocument/2006/relationships/notesMaster" Target="/ppt/notesMasters/notesMaster1.xml" Id="R133442b4a31a464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46dc42f0f54497" /><Relationship Type="http://schemas.openxmlformats.org/officeDocument/2006/relationships/notesMaster" Target="/ppt/notesMasters/notesMaster1.xml" Id="Rd3f070697eec43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2f681bcb8746e9" /><Relationship Type="http://schemas.openxmlformats.org/officeDocument/2006/relationships/notesMaster" Target="/ppt/notesMasters/notesMaster1.xml" Id="R45d92ed9d14c4a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赛道 B 参赛作品；方向三：全球供应链与产业安全。</a:t>
            </a:r>
          </a:p>
          <a:p xmlns:a="http://schemas.openxmlformats.org/drawingml/2006/main">
            <a:r>
              <a:t>演示数据基于赛题虚构企业 XX 智能装备有限公司，不对应现实企业。</a:t>
            </a:r>
          </a:p>
          <a:p xmlns:a="http://schemas.openxmlformats.org/drawingml/2006/main">
            <a:r>
              <a:t>产品可在本地运行：streamlit run app.py。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一句话总结：用 AI 把地缘事件转成供应链可量化的风险和可比较的对策。</a:t>
            </a:r>
          </a:p>
          <a:p xmlns:a="http://schemas.openxmlformats.org/drawingml/2006/main">
            <a:r>
              <a:t>与指南附录一风险框架中“供应链生态网络的因果级联传导不确定性”对应。</a:t>
            </a:r>
          </a:p>
          <a:p xmlns:a="http://schemas.openxmlformats.org/drawingml/2006/main">
            <a:r>
              <a:t>数据与结论边界见 docs/test_cases.md。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本页问题概述来自指南附录一“风险框架与参考方向”以及公开可见的供应链风险讨论，不引用具体企业。</a:t>
            </a:r>
          </a:p>
          <a:p xmlns:a="http://schemas.openxmlformats.org/drawingml/2006/main">
            <a:r>
              <a:t>核心是评审点“用户场景与痛点是否有意义”。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场景取自指南附录二模拟企业的关键依赖设定（编码器、芯片、相机、订单）。</a:t>
            </a:r>
          </a:p>
          <a:p xmlns:a="http://schemas.openxmlformats.org/drawingml/2006/main">
            <a:r>
              <a:t>全部企业名、供应商、订单与事件均为虚构。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痛点来自产品设计方案文档与模拟企业场景归纳，用于回答“用户要完成的任务与痛点”。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现状与不足是基于目标用户常见工作方式的概括，用于引出产品定位。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雷达闭环 = 建模、感知、评估、推演，强调迭代而非一次性报告。</a:t>
            </a:r>
          </a:p>
          <a:p xmlns:a="http://schemas.openxmlformats.org/drawingml/2006/main">
            <a:r>
              <a:t>对应指南中“真实可交互”与“AI 合理使用”两条评审点。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用在结构化抽取、参数化和摘要，不代替专业判断。</a:t>
            </a:r>
          </a:p>
          <a:p xmlns:a="http://schemas.openxmlformats.org/drawingml/2006/main">
            <a:r>
              <a:t>评审关注“数据与 AI 边界”，对应案例 C/D 的保守策略。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截图来自本地运行的 Streamlit 应用第 2 页“依赖图谱”。</a:t>
            </a:r>
          </a:p>
          <a:p xmlns:a="http://schemas.openxmlformats.org/drawingml/2006/main">
            <a:r>
              <a:t>图中 9 节点、11 条边为模拟企业数据；上游不明以红色虚线表达。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核心模块为 chainshield/signals.py、llm.py、ingest.py。</a:t>
            </a:r>
          </a:p>
          <a:p xmlns:a="http://schemas.openxmlformats.org/drawingml/2006/main">
            <a:r>
              <a:t>截图为应用第 5 页；RSS 为真实抓取，样例源和事件内容均为模拟。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权重与叠加公式见 chainshield/risk.py，反事实校验见 chainshield/validation.py。</a:t>
            </a:r>
          </a:p>
          <a:p xmlns:a="http://schemas.openxmlformats.org/drawingml/2006/main">
            <a:r>
              <a:t>DEP-02 为模拟工业控制芯片，上游授权关系不明，故信息可见性风险满分。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推演引擎为 chainshield/scenario.py；截图来自应用第 4 页。</a:t>
            </a:r>
          </a:p>
          <a:p xmlns:a="http://schemas.openxmlformats.org/drawingml/2006/main">
            <a:r>
              <a:t>“第 17 周”来自当前模拟种子数据，测试口径见 docs/test_cases.md。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方案成本是数量级示意，不构成经营建议；比较逻辑见 app.py 方案比较页与 scripts/cases.py。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 A/B 的推演参数和结果来自 scripts/cases.py，验收口径见 docs/test_cases.md。</a:t>
            </a:r>
          </a:p>
          <a:p xmlns:a="http://schemas.openxmlformats.org/drawingml/2006/main">
            <a:r>
              <a:t>三批订单交付期第 8/12/16 周，均早于第 17 周断供点，因此“现有订单不受影响”是符合赛题设定的结论。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 C/D 为边界演示核心，回应评审点“边界意识：数据、证据与 AI 生成内容”。</a:t>
            </a:r>
          </a:p>
          <a:p xmlns:a="http://schemas.openxmlformats.org/drawingml/2006/main">
            <a:r>
              <a:t>相关行为见 chainshield/risk.py、scenario.py 与 app.py 第 6 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测试记录见 docs/test_cases.md 与 docs/iteration_log.md。</a:t>
            </a:r>
          </a:p>
          <a:p xmlns:a="http://schemas.openxmlformats.org/drawingml/2006/main">
            <a:r>
              <a:t>已知局限已在 README 与产品中披露，不隐藏模拟数据属性。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36acf765049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3826a07b634df6" /><Relationship Type="http://schemas.openxmlformats.org/officeDocument/2006/relationships/slideLayout" Target="/ppt/slideLayouts/slideLayout1.xml" Id="R4617e1207be740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17e1207be740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4cecaf3074020" /><Relationship Type="http://schemas.openxmlformats.org/officeDocument/2006/relationships/notesSlide" Target="/ppt/notesSlides/notesSlide1.xml" Id="Re28d4b33d04b44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3e283812f442f" /><Relationship Type="http://schemas.openxmlformats.org/officeDocument/2006/relationships/notesSlide" Target="/ppt/notesSlides/notesSlide2.xml" Id="Rc266ecb94a4f4b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551ff9bf341a9" /><Relationship Type="http://schemas.openxmlformats.org/officeDocument/2006/relationships/notesSlide" Target="/ppt/notesSlides/notesSlide3.xml" Id="Rc979efd749a04e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01ef769654226" /><Relationship Type="http://schemas.openxmlformats.org/officeDocument/2006/relationships/notesSlide" Target="/ppt/notesSlides/notesSlide4.xml" Id="R4d13027754d24a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e8094482d42f7" /><Relationship Type="http://schemas.openxmlformats.org/officeDocument/2006/relationships/notesSlide" Target="/ppt/notesSlides/notesSlide5.xml" Id="R6d40f0dc97ce4a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f8ff4b3f24527" /><Relationship Type="http://schemas.openxmlformats.org/officeDocument/2006/relationships/notesSlide" Target="/ppt/notesSlides/notesSlide6.xml" Id="Ra0447b6a23a64c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8ddaaf9134549" /><Relationship Type="http://schemas.openxmlformats.org/officeDocument/2006/relationships/notesSlide" Target="/ppt/notesSlides/notesSlide7.xml" Id="R538c9926930149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df5c4e3aa4f12" /><Relationship Type="http://schemas.openxmlformats.org/officeDocument/2006/relationships/notesSlide" Target="/ppt/notesSlides/notesSlide8.xml" Id="R9317a5f56e3e42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01961704b46e3" /><Relationship Type="http://schemas.openxmlformats.org/officeDocument/2006/relationships/image" Target="/ppt/media/image.png" Id="Rad4621e62d374ce4" /><Relationship Type="http://schemas.openxmlformats.org/officeDocument/2006/relationships/notesSlide" Target="/ppt/notesSlides/notesSlide9.xml" Id="R14ec91063f7445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d16767a7d4313" /><Relationship Type="http://schemas.openxmlformats.org/officeDocument/2006/relationships/image" Target="/ppt/media/image2.png" Id="R81455b9ef2d5485e" /><Relationship Type="http://schemas.openxmlformats.org/officeDocument/2006/relationships/notesSlide" Target="/ppt/notesSlides/notesSlide10.xml" Id="R4b2a37f2ea1840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c1087ce8e4adc" /><Relationship Type="http://schemas.openxmlformats.org/officeDocument/2006/relationships/image" Target="/ppt/media/image3.png" Id="R4125f3f802ec4f89" /><Relationship Type="http://schemas.openxmlformats.org/officeDocument/2006/relationships/notesSlide" Target="/ppt/notesSlides/notesSlide11.xml" Id="R96630fcffef74b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db06890704b7d" /><Relationship Type="http://schemas.openxmlformats.org/officeDocument/2006/relationships/image" Target="/ppt/media/image4.png" Id="R852469964774488c" /><Relationship Type="http://schemas.openxmlformats.org/officeDocument/2006/relationships/notesSlide" Target="/ppt/notesSlides/notesSlide12.xml" Id="Rd311731ce9c94c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649d8eb6a4991" /><Relationship Type="http://schemas.openxmlformats.org/officeDocument/2006/relationships/notesSlide" Target="/ppt/notesSlides/notesSlide13.xml" Id="R88052d12601c4f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4aee337b3427b" /><Relationship Type="http://schemas.openxmlformats.org/officeDocument/2006/relationships/image" Target="/ppt/media/image5.png" Id="Rd3d2b8ced54042a6" /><Relationship Type="http://schemas.openxmlformats.org/officeDocument/2006/relationships/notesSlide" Target="/ppt/notesSlides/notesSlide14.xml" Id="R0d1271a7163e43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02e054f9449fc" /><Relationship Type="http://schemas.openxmlformats.org/officeDocument/2006/relationships/notesSlide" Target="/ppt/notesSlides/notesSlide15.xml" Id="R06156d619c2a4b2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20c1a87d24c66" /><Relationship Type="http://schemas.openxmlformats.org/officeDocument/2006/relationships/notesSlide" Target="/ppt/notesSlides/notesSlide16.xml" Id="R806867be2ab84f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E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45EAD-D2ED-4C6B-9506-0DD736F1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0">
                <a:solidFill>
                  <a:srgbClr val="B9D3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B9D3E8"/>
                </a:solidFill>
                <a:latin typeface="Microsoft YaHei"/>
                <a:ea typeface="Microsoft YaHei"/>
                <a:cs typeface="Microsoft YaHei"/>
              </a:rPr>
              <a:t>AI+地缘政治风险高校挑战赛 · 赛道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BACDC0-8DC5-4C1B-BD89-5B64B7C9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810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地缘风险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CE62F-442F-49C9-97F4-90B06CA3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FCC9F-9E94-40D7-8A98-69B39414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A9C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A9CCE6"/>
                </a:solidFill>
                <a:latin typeface="Microsoft YaHei"/>
                <a:ea typeface="Microsoft YaHei"/>
                <a:cs typeface="Microsoft YaHei"/>
              </a:rPr>
              <a:t>供应链地缘风险雷达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50E25-9127-45BB-AA9E-9821AEA1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914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0">
                <a:solidFill>
                  <a:srgbClr val="C9DA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DAE8"/>
                </a:solidFill>
                <a:latin typeface="Microsoft YaHei"/>
                <a:ea typeface="Microsoft YaHei"/>
                <a:cs typeface="Microsoft YaHei"/>
              </a:rPr>
              <a:t>面向高端智能装备企业的地缘风险识别、量化与情景推演工具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C2E3A-DC83-446C-8891-9AA43ABC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0">
                <a:solidFill>
                  <a:srgbClr val="DCE7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CE7F0"/>
                </a:solidFill>
                <a:latin typeface="Microsoft YaHei"/>
                <a:ea typeface="Microsoft YaHei"/>
                <a:cs typeface="Microsoft YaHei"/>
              </a:rPr>
              <a:t>西北民族大学    陈冶希、李宇欣</a:t>
            </a:r>
          </a:p>
        </p:txBody>
      </p:sp>
    </p:spTree>
    <p:extLst>
      <p:ext uri="{BB962C8B-B14F-4D97-AF65-F5344CB8AC3E}">
        <p14:creationId xmlns:p14="http://schemas.microsoft.com/office/powerpoint/2010/main" val="8628360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2496A-2BCF-49EF-B5DB-A7F1749F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项目摘要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BA938-4B91-41FE-8575-FAFC61C2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4C7E8-DFC1-41EF-B000-C996E3E5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EA55D-A765-4712-851B-05F6D3A6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AI 帮助采购与供应链管理者看清依赖、感知信号、量化暴露、推演断供、比较对策。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D9692-0567-4AEE-BE73-4EECF548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可运行 Web 应用：六个页面覆盖概览、图谱、暴露度、推演、信号与案例，本地一键启动、可交互演示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五因子暴露度评估：集中度、事件强度、可替代性、库存缓冲与信息可见性加权计分，构成逐项透明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情景推演与方案比较：计入在途订单和持续补货，支持多事件叠加与加库存、替代、组合、排产协商对比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赛题连接：聚焦供应链生态网络的因果级联传导不确定性，是地缘政治风险分析的行动推演应用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CB97D-91DC-434B-B4F4-C742968E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演示企业与风险事件均为赛题虚构（XX 智能装备有限公司），不对应现实实体。</a:t>
            </a:r>
          </a:p>
        </p:txBody>
      </p:sp>
    </p:spTree>
    <p:extLst>
      <p:ext uri="{BB962C8B-B14F-4D97-AF65-F5344CB8AC3E}">
        <p14:creationId xmlns:p14="http://schemas.microsoft.com/office/powerpoint/2010/main" val="468761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C5EA2-91AB-45FB-B86E-BBADF9C8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地缘政治风险正在改写供应链规则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8D9F8-E129-40E4-85B6-BDB83472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163F4-DD1C-4719-8A75-418DFBB6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2DC12-87BE-4340-B961-13691B83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287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出口管制、航运中断与“技术阵营化”把关键件交期从数周拉长到数月，断供与违约风险上升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中小制造企业普遍“看不到、算不出、来不及”：信息分散、依赖不透明、缺少推演能力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依赖关系不透明，只能看见直接供应商，上游授权关系常是盲区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风险信号分散在政策文件、新闻、供应商函件中，人工跟踪成本高且容易遗漏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8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影响无法量化，说不清哪个环节最危险、库存能撑多久、哪套对策更稳妥</a:t>
            </a:r>
          </a:p>
        </p:txBody>
      </p:sp>
    </p:spTree>
    <p:extLst>
      <p:ext uri="{BB962C8B-B14F-4D97-AF65-F5344CB8AC3E}">
        <p14:creationId xmlns:p14="http://schemas.microsoft.com/office/powerpoint/2010/main" val="9098107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BF901-684C-44DC-9E1E-9A8FAF46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目标用户与使用场景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AEC98-039F-44DC-B353-DC72A571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49A59-CDD6-42ED-BA73-98E03B9A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A4566-93E2-4332-8B3B-13F1F6CC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三类核心用户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24B16-5422-4272-A9E1-4EC76FD8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采购与供应链管理者：识别最易受冲击的依赖，评估替代来源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生产管理者：判断库存可支撑周数与订单排产影响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战略部门：跟踪政策与运输变化，提前调整备货与供应策略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0E50B-BCE7-47F1-A9B5-2ADA52D0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模拟场景（虚构企业）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24E17-72CA-4EAD-883A-F3C43E73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28800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三条关键进口依赖：日本编码器、新加坡经销芯片、德国工业相机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出口审查收紧后，关键件交期由 8 周量级升至 20 周量级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关键件安全库存约 12 周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未来四个月有 3 批国内外订单待交付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52A5D-547C-444D-A2CA-A699C0D6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模拟企业为“XX 智能装备有限公司”，数据仅供演示，不代表现实经营情况。</a:t>
            </a:r>
          </a:p>
        </p:txBody>
      </p:sp>
    </p:spTree>
    <p:extLst>
      <p:ext uri="{BB962C8B-B14F-4D97-AF65-F5344CB8AC3E}">
        <p14:creationId xmlns:p14="http://schemas.microsoft.com/office/powerpoint/2010/main" val="3196519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F930F6-D2B6-4298-A3C7-92CE22C7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用户要完成的任务与痛点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2D488-4C0A-448D-BAB9-C70E4FC1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0C4D7-B17A-4F39-9948-4B43E879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7E71F-002A-4055-90D2-7181FA73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决策任务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30A34-6FDC-46B7-BAF3-A8844377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识别哪条关键依赖最脆弱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判断风险信号对交期与供应的实际影响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决定加库存、启动替代或与客户协商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跟进不确定信息，避免把传闻当事实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41EB4-2D11-44CA-9D1C-0AF0CAC7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90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任务做不下去的四个痛点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03599-A91C-499E-B8F8-1D49C584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66900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上游授权关系不明，看不见二级供应商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采购、生产、销售数据彼此割裂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风险信号多而杂，人工跟踪容易漏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暴露程度与对策效果难以量化，决策靠经验</a:t>
            </a:r>
          </a:p>
        </p:txBody>
      </p:sp>
    </p:spTree>
    <p:extLst>
      <p:ext uri="{BB962C8B-B14F-4D97-AF65-F5344CB8AC3E}">
        <p14:creationId xmlns:p14="http://schemas.microsoft.com/office/powerpoint/2010/main" val="3133927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00965-B002-489A-9173-930AED54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现有解决方式与不足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7D167-2FA4-48CF-8B3B-C56A2E85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8B580-AA32-4FE4-B01C-7E75614E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0B07D-5A34-40E1-BB26-A0FB575F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现在主要靠台账、邮件和订阅报告，信息是静态、滞后的。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143250"/>
                <a:gridCol w="7677150"/>
              </a:tblGrid>
              <a:tr h="7381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现有方式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不足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 台账与邮件通报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更新靠人工，跨部门版本不一致，风险发生时响应慢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咨询与行业报告订阅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更新周期长，无法逐事件回答“对我们影响有多大”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人工经验判断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难以量化暴露度，也难以比较加库存、替代、协商等方案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CD438-D2D1-4E96-A7A9-FA129B56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需要的是把持续监测、量化暴露与情景推演放到一个工作流里的工具。</a:t>
            </a:r>
          </a:p>
        </p:txBody>
      </p:sp>
    </p:spTree>
    <p:extLst>
      <p:ext uri="{BB962C8B-B14F-4D97-AF65-F5344CB8AC3E}">
        <p14:creationId xmlns:p14="http://schemas.microsoft.com/office/powerpoint/2010/main" val="16383566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544E1B-00C1-4788-B77A-10A3A831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解决思路：四步雷达闭环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29227-A9FE-402B-B2FD-221DD283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3457A-D818-4206-9E56-7748B973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0AF06-A405-40D1-A109-EF5E4D42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BD2A3-C2CC-4D01-A541-E05353BA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依赖建模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16511-FD9B-4D47-BC59-76294E00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把供应商、组件、订单与上游关系整理成可查询的依赖图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F6611-96E5-4F44-A57F-8FDAE0A9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F7417-B7AB-4A76-BAA9-43528E2D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359AD-8E1E-47FB-BF81-221119FB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信号感知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19B00-880C-4459-8EB2-030B2279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巡检政策、新闻与 RSS 源，由 AI 抽取结构化风险事件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7E87C-895E-4005-881C-0F6BF107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6945A-D191-437E-92EB-0827EEB3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55762-7013-4726-8C94-F2ADFE28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暴露评估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0AF9C-EC3D-4510-B036-30726041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用五个可解释因子给每条依赖计算暴露分数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3BC3C-00DC-4985-9487-342C821F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81200"/>
            <a:ext cx="19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79303-0094-486D-A7F5-3687E20B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66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16F019-1083-4F24-82C7-995D199C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情景推演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FDED4-C77A-4463-934F-288846CF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95600"/>
            <a:ext cx="247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B7A"/>
                </a:solidFill>
                <a:latin typeface="Microsoft YaHei"/>
                <a:ea typeface="Microsoft YaHei"/>
                <a:cs typeface="Microsoft YaHei"/>
              </a:rPr>
              <a:t>推演断供周次、库存曲线，并比较应对方案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C500DE-69E9-46C3-994E-B7D7A1DE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四步循环运转：推演结果暴露数据缺口，缺口再回填到依赖建模与信号源配置。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DD20C-C477-458E-BCBD-53094CC4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900"/>
              </a:spcAft>
              <a:buNone/>
              <a:defRPr sz="13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每一步都保留证据链接与置信度标记，最终判断留给使用者确认</a:t>
            </a:r>
          </a:p>
        </p:txBody>
      </p:sp>
    </p:spTree>
    <p:extLst>
      <p:ext uri="{BB962C8B-B14F-4D97-AF65-F5344CB8AC3E}">
        <p14:creationId xmlns:p14="http://schemas.microsoft.com/office/powerpoint/2010/main" val="504393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E02AC-3207-495E-9F7F-B8780446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AI 的角色与人机协作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01338-C718-4AAA-8239-6A1AD428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31231C-F457-4529-AF62-A57AFB98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4D5DC-892A-491F-AE42-BD9B41BB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AI 承担的工作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1B137-E0F3-431C-B772-E2A58BF7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953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把政策、新闻与函件文本结构化，抽取事件要素与来源链接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对抽取结果标注状态与置信度，未确认的信息不进入结论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评分、推演与方案比较采用确定性规则，输出可复现、可复核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35A6F-1AD3-4D85-9880-55A9CAB7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097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边界与人工把关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AD034-9F6D-4ACD-A305-E6B60F75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8595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事实、推断与待核实分开标注，低置信度内容不进入评分和推演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上游信息缺失时不编造结论，输出索取授权链与尽调建议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交期、库存、替代周期等参数由使用者校准，重大决策保留人工确认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64975-DCB9-460E-B5D4-C4E74CEC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AI 把非结构化信息整理成可复核的结构化依据；最终判断由使用者确认。</a:t>
            </a:r>
          </a:p>
        </p:txBody>
      </p:sp>
    </p:spTree>
    <p:extLst>
      <p:ext uri="{BB962C8B-B14F-4D97-AF65-F5344CB8AC3E}">
        <p14:creationId xmlns:p14="http://schemas.microsoft.com/office/powerpoint/2010/main" val="13688781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6C9C-4381-41AE-AA4C-CB8B0C38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核心功能一：供应链依赖建模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B4EE5-4C4C-4DA4-B91A-C94C605D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7450B-4F8F-4225-92F5-CA2B24D8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C416F-C998-414A-B62C-0A16771D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把“供应商、组件、订单”整理成多级依赖图谱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标注采购份额、当前交期、库存周数与可替代性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集中度指标帮助定位单源、单国依赖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上游授权关系不明时用红色虚线标出，明确信息缺口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621e62d374ce4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8C129-633F-42A4-B8FE-FB86EB27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本地运行版本：依赖图谱页实拍，数据场景虚构</a:t>
            </a:r>
          </a:p>
        </p:txBody>
      </p:sp>
    </p:spTree>
    <p:extLst>
      <p:ext uri="{BB962C8B-B14F-4D97-AF65-F5344CB8AC3E}">
        <p14:creationId xmlns:p14="http://schemas.microsoft.com/office/powerpoint/2010/main" val="7371923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9551A-B28C-4302-9161-AD3D6460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核心功能二：风险信号雷达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A677F-895F-46EB-A102-41DF0A6B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8C12C-EE15-4F5A-B219-080A412E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41BB93-A530-40C3-B768-C7DA512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巡检模拟样例源与 RSS/Atom 源，把文本送入事件抽取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AI 抽取主体、国家、措施、影响对象与来源链接，结构化为事件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按“标题 + 日期”去重写入事件库，命中依赖时参与评估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配置 API Key 走真实模型；无 Key 时自动离线占位并标记待核实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55b9ef2d5485e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ACEB4-8644-462A-86D0-78AA086E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本地运行版本：事件库与信号导入页实拍</a:t>
            </a:r>
          </a:p>
        </p:txBody>
      </p:sp>
    </p:spTree>
    <p:extLst>
      <p:ext uri="{BB962C8B-B14F-4D97-AF65-F5344CB8AC3E}">
        <p14:creationId xmlns:p14="http://schemas.microsoft.com/office/powerpoint/2010/main" val="713282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C824D-6A94-4EFB-A9E3-3EDD00E1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核心功能三：暴露度评估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24A08-D94F-4016-82B2-51495CF8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F7682-D79C-4A8A-80D2-079B9060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BE0BD-BC09-42E1-9368-5A2BC919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综合暴露度 = 集中度20% + 事件强度25% + 可替代性20% + 库存缓冲15% + 信息可见性20%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C7F314-D9B1-4628-A52C-A1AC1354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762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事件强度按多事件叠加衰减公式计算，不简单相加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输出综合分数、风险等级与主要风险因子，分数构成逐项可见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界面可调整权重并查看敏感性，反事实案例校验 4/4 通过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4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模拟数据结果：芯片 DEP-02 71.5 分（高），主因信息可见性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5f3f802ec4f89"/>
          <a:stretch xmlns:a="http://schemas.openxmlformats.org/drawingml/2006/main"/>
        </p:blipFill>
        <p:spPr>
          <a:xfrm xmlns:a="http://schemas.openxmlformats.org/drawingml/2006/main">
            <a:off x="6168507" y="2190750"/>
            <a:ext cx="5131837" cy="3143250"/>
          </a:xfrm>
          <a:prstGeom xmlns:a="http://schemas.openxmlformats.org/drawingml/2006/main" prst="roundRect">
            <a:avLst>
              <a:gd name="adj" fmla="val 242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33908-3A4A-49CC-BDAC-7E980487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42925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本地运行版本：暴露度评估页（权重调节与敏感性检查）</a:t>
            </a:r>
          </a:p>
        </p:txBody>
      </p:sp>
    </p:spTree>
    <p:extLst>
      <p:ext uri="{BB962C8B-B14F-4D97-AF65-F5344CB8AC3E}">
        <p14:creationId xmlns:p14="http://schemas.microsoft.com/office/powerpoint/2010/main" val="421895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68196-09BE-44A4-B653-5045F6E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核心功能四：情景推演器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4E660-6810-4D12-BCCF-2485F62A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1F845-A4B7-4399-B026-93928E84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EA965-4C74-4678-8DCC-77D63393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按“库存 + 在途订单 + 持续补货”逐周推演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输出断供周次、库存消耗曲线、订单状态与风险提示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多事件命中同一依赖时自动合并冲击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5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待核实事件默认不参与推演，只作为显式假设分析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6EDD7-CDE5-40FF-9F50-7AD52FCE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案例结果：DEP-01 完全断供约第 17 周见底，现有 3 批订单在第 8/12/16 周交付，先于断供点。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469964774488c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A3DCF-FD60-49BB-B0D7-B829578D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本地运行版本：情景推演页实拍</a:t>
            </a:r>
          </a:p>
        </p:txBody>
      </p:sp>
    </p:spTree>
    <p:extLst>
      <p:ext uri="{BB962C8B-B14F-4D97-AF65-F5344CB8AC3E}">
        <p14:creationId xmlns:p14="http://schemas.microsoft.com/office/powerpoint/2010/main" val="4613127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2BD71-CD2D-44DF-8ECA-E8DD943B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核心功能五：应对方案比较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11467-A771-435D-AF3C-3FF19614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D6577-2725-4608-91AA-31E38592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428750"/>
          <a:ext xmlns:a="http://schemas.openxmlformats.org/drawingml/2006/main" cx="10820400" cy="3352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428750"/>
                <a:gridCol w="2381250"/>
                <a:gridCol w="2381250"/>
                <a:gridCol w="4629150"/>
              </a:tblGrid>
              <a:tr h="67056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思路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主要代价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适用时点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加库存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提前锁定缓冲用量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资金占用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信号初现且资金可腾挪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替代供应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启动国产替代认证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认证与样品费用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替代准备时间足够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组合方案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暂存缓冲与替代并行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两者之和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断供临近、窗口不足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排产协商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与客户调整交付顺序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商务成本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订单集中、短期难补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990E0-53DD-4958-9B26-AA3CD90B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模拟推演：替代约第 18 周就绪，而断供第 17 周发生，组合方案更能避免断供。成本与周期为数量级示意。</a:t>
            </a:r>
          </a:p>
        </p:txBody>
      </p:sp>
    </p:spTree>
    <p:extLst>
      <p:ext uri="{BB962C8B-B14F-4D97-AF65-F5344CB8AC3E}">
        <p14:creationId xmlns:p14="http://schemas.microsoft.com/office/powerpoint/2010/main" val="329530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4B650-89EA-48AA-B016-17F31F3D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实际用例演示（A / B）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07CE0-B37E-4D94-8CDD-634BA270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ABAF1-3785-4C69-9457-8BDDD337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661FF-DA02-4582-8267-4CDCAE0F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762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A：日本编码器出口审查收紧，交期升至 20 周，推演出第 17 周断供，三批现有订单在断供前完成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B：红海航运风险经新加坡传导，芯片在途延误 4 周、新交期 20 周，跨组件影响被量化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两个案例都触发“断供后新增订单无缓冲”提示，并进入方案比较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600"/>
              </a:spcAft>
              <a:buNone/>
              <a:def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演示口径保持克制，不夸大为“现有订单受损”，明确系统边界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2b8ced54042a6"/>
          <a:stretch xmlns:a="http://schemas.openxmlformats.org/drawingml/2006/main"/>
        </p:blipFill>
        <p:spPr>
          <a:xfrm xmlns:a="http://schemas.openxmlformats.org/drawingml/2006/main">
            <a:off x="5966343" y="1428750"/>
            <a:ext cx="5536163" cy="3390900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6DCD9-2AFA-49B0-8B95-2ED5C77C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14900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E93A5"/>
                </a:solidFill>
                <a:latin typeface="Microsoft YaHei"/>
                <a:ea typeface="Microsoft YaHei"/>
                <a:cs typeface="Microsoft YaHei"/>
              </a:rPr>
              <a:t>本地运行版本：案例与边界演示页实拍</a:t>
            </a:r>
          </a:p>
        </p:txBody>
      </p:sp>
    </p:spTree>
    <p:extLst>
      <p:ext uri="{BB962C8B-B14F-4D97-AF65-F5344CB8AC3E}">
        <p14:creationId xmlns:p14="http://schemas.microsoft.com/office/powerpoint/2010/main" val="2581337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B1D5AF-0F30-4C34-A511-E24B5EC3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边界案例演示与 AI 可信边界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4775A-537B-411A-B1ED-1FC6031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13C98-85CF-4664-B024-CCA94D44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26BF1-25EC-4AD7-9D83-653F52A5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2870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C：芯片上游授权关系不明，系统给出信息可见性满分并明确“高不确定性”，建议索取授权链或人工尽调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案例 D：美国出口限制仅为低置信度报道，系统将其归入“待核实”，不参与评分与推演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默认策略保守：宁可少下结论，也不把不确定报道当作事实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2000"/>
              </a:spcAft>
              <a:buNone/>
              <a:def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系统失效与人工接管点：冲突报道仍需人工结构化；交期、库存与替代周期等输入需使用者校准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81771-C1C1-4567-A566-E8420B1E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FB2"/>
                </a:solidFill>
                <a:latin typeface="Microsoft YaHei"/>
                <a:ea typeface="Microsoft YaHei"/>
                <a:cs typeface="Microsoft YaHei"/>
              </a:rPr>
              <a:t>系统把“哪些证据支持结论、哪些仍待核实”摊开给使用者，而不是输出黑盒判断。</a:t>
            </a:r>
          </a:p>
        </p:txBody>
      </p:sp>
    </p:spTree>
    <p:extLst>
      <p:ext uri="{BB962C8B-B14F-4D97-AF65-F5344CB8AC3E}">
        <p14:creationId xmlns:p14="http://schemas.microsoft.com/office/powerpoint/2010/main" val="16019703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62D79-0E0A-4ACA-A474-D50DD7CF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E2E4C"/>
                </a:solidFill>
                <a:latin typeface="Microsoft YaHei"/>
                <a:ea typeface="Microsoft YaHei"/>
                <a:cs typeface="Microsoft YaHei"/>
              </a:rPr>
              <a:t>测试、迭代与已知局限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25164-400B-434D-B9CB-99FC2508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647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46714-8112-484B-93C4-E4CB5954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0080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3A6B7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333500"/>
          <a:ext xmlns:a="http://schemas.openxmlformats.org/drawingml/2006/main" cx="10820400" cy="2095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476750"/>
                <a:gridCol w="6343650"/>
              </a:tblGrid>
              <a:tr h="5238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验证项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 anchor="ctr">
                    <a:solidFill>
                      <a:srgbClr val="0E2E4C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 A–D 自动化回归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 项断言全部 PASS（scripts/cases.py）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暴露度敏感性与反事实校验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4/4 PASS（chainshield/validation.py）</a:t>
                      </a:r>
                    </a:p>
                  </a:txBody>
                  <a:tcPr marL="91440" marR="91440" marT="45720" marB="45720" anchor="ctr">
                    <a:solidFill>
                      <a:srgbClr val="F2F7FB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冒烟演示与六个界面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F2D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全部可运行，无运行异常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CEE85-8550-4E9A-82E9-3ED009A5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47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局限：当前使用赛题虚构的模拟数据，不代表真实企业情况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局限：同一议题的冲突报道尚无专门消解模型，采用保守降级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局限：推演依赖交期、库存与替代周期假设，需要使用者校准</a:t>
            </a:r>
          </a:p>
          <a:p xmlns:a="http://schemas.openxmlformats.org/drawingml/2006/main">
            <a:pPr marL="266700" indent="-139700">
              <a:lnSpc>
                <a:spcPct val="124000"/>
              </a:lnSpc>
              <a:spcAft>
                <a:spcPts val="1200"/>
              </a:spcAft>
              <a:buNone/>
              <a:def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F2D3A"/>
                </a:solidFill>
                <a:latin typeface="Microsoft YaHei"/>
                <a:ea typeface="Microsoft YaHei"/>
                <a:cs typeface="Microsoft YaHei"/>
              </a:rPr>
              <a:t>后续：接入真实公开数据、多来源冲突消解、按企业定制</a:t>
            </a:r>
          </a:p>
        </p:txBody>
      </p:sp>
    </p:spTree>
    <p:extLst>
      <p:ext uri="{BB962C8B-B14F-4D97-AF65-F5344CB8AC3E}">
        <p14:creationId xmlns:p14="http://schemas.microsoft.com/office/powerpoint/2010/main" val="1736454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2026-09-08T05:08:05.3050000Z</dcterms:created>
  <dcterms:modified xsi:type="dcterms:W3CDTF">2026-09-08T05:08:05.3050000Z</dcterms:modified>
</coreProperties>
</file>