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56d2210c9a4838" /><Relationship Type="http://schemas.openxmlformats.org/officeDocument/2006/relationships/extended-properties" Target="/docProps/app.xml" Id="R427b16e15dbb4702" /><Relationship Type="http://schemas.openxmlformats.org/officeDocument/2006/relationships/officeDocument" Target="/ppt/presentation.xml" Id="R465dcbb78bbe4f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61e13c77714862"/>
  </p:sldMasterIdLst>
  <p:notesMasterIdLst>
    <p:notesMasterId xmlns:r="http://schemas.openxmlformats.org/officeDocument/2006/relationships" r:id="Rdfc93f9daae946c2"/>
  </p:notesMasterIdLst>
  <p:sldIdLst>
    <p:sldId xmlns:r="http://schemas.openxmlformats.org/officeDocument/2006/relationships" id="256" r:id="R44283e3a6d0241b5"/>
    <p:sldId xmlns:r="http://schemas.openxmlformats.org/officeDocument/2006/relationships" id="257" r:id="R4e214031521f4e83"/>
    <p:sldId xmlns:r="http://schemas.openxmlformats.org/officeDocument/2006/relationships" id="258" r:id="R49f220ca40d444d7"/>
    <p:sldId xmlns:r="http://schemas.openxmlformats.org/officeDocument/2006/relationships" id="259" r:id="R13aade418a79436a"/>
    <p:sldId xmlns:r="http://schemas.openxmlformats.org/officeDocument/2006/relationships" id="260" r:id="R03fb8ff6003a4c4c"/>
    <p:sldId xmlns:r="http://schemas.openxmlformats.org/officeDocument/2006/relationships" id="261" r:id="R51401a9645d2456f"/>
    <p:sldId xmlns:r="http://schemas.openxmlformats.org/officeDocument/2006/relationships" id="262" r:id="R54e72fbbedb34a38"/>
    <p:sldId xmlns:r="http://schemas.openxmlformats.org/officeDocument/2006/relationships" id="263" r:id="R19fceca0eeae4cc6"/>
    <p:sldId xmlns:r="http://schemas.openxmlformats.org/officeDocument/2006/relationships" id="264" r:id="Rd326cda5622f4fb7"/>
    <p:sldId xmlns:r="http://schemas.openxmlformats.org/officeDocument/2006/relationships" id="265" r:id="Re363017372d4486f"/>
    <p:sldId xmlns:r="http://schemas.openxmlformats.org/officeDocument/2006/relationships" id="266" r:id="R59e500678ea84f49"/>
    <p:sldId xmlns:r="http://schemas.openxmlformats.org/officeDocument/2006/relationships" id="267" r:id="R90a6e9abf9f74d6e"/>
    <p:sldId xmlns:r="http://schemas.openxmlformats.org/officeDocument/2006/relationships" id="268" r:id="Rf1fcd2ad92a94055"/>
    <p:sldId xmlns:r="http://schemas.openxmlformats.org/officeDocument/2006/relationships" id="269" r:id="R2be18e480acd4685"/>
    <p:sldId xmlns:r="http://schemas.openxmlformats.org/officeDocument/2006/relationships" id="270" r:id="R4dfbe01f70d04adb"/>
    <p:sldId xmlns:r="http://schemas.openxmlformats.org/officeDocument/2006/relationships" id="271" r:id="Rc2d3b9cbb313441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265a657554490c" /><Relationship Type="http://schemas.openxmlformats.org/officeDocument/2006/relationships/slideMaster" Target="/ppt/slideMasters/slideMaster1.xml" Id="R3461e13c77714862" /><Relationship Type="http://schemas.openxmlformats.org/officeDocument/2006/relationships/notesMaster" Target="/ppt/notesMasters/notesMaster1.xml" Id="Rdfc93f9daae946c2" /><Relationship Type="http://schemas.openxmlformats.org/officeDocument/2006/relationships/presProps" Target="/ppt/presProps.xml" Id="R3e250335146b4547" /><Relationship Type="http://schemas.openxmlformats.org/officeDocument/2006/relationships/tableStyles" Target="/ppt/tableStyles.xml" Id="R0b5fbff86c4d4478" /><Relationship Type="http://schemas.openxmlformats.org/officeDocument/2006/relationships/slide" Target="/ppt/slides/slide1.xml" Id="R44283e3a6d0241b5" /><Relationship Type="http://schemas.openxmlformats.org/officeDocument/2006/relationships/slide" Target="/ppt/slides/slide2.xml" Id="R4e214031521f4e83" /><Relationship Type="http://schemas.openxmlformats.org/officeDocument/2006/relationships/slide" Target="/ppt/slides/slide3.xml" Id="R49f220ca40d444d7" /><Relationship Type="http://schemas.openxmlformats.org/officeDocument/2006/relationships/slide" Target="/ppt/slides/slide4.xml" Id="R13aade418a79436a" /><Relationship Type="http://schemas.openxmlformats.org/officeDocument/2006/relationships/slide" Target="/ppt/slides/slide5.xml" Id="R03fb8ff6003a4c4c" /><Relationship Type="http://schemas.openxmlformats.org/officeDocument/2006/relationships/slide" Target="/ppt/slides/slide6.xml" Id="R51401a9645d2456f" /><Relationship Type="http://schemas.openxmlformats.org/officeDocument/2006/relationships/slide" Target="/ppt/slides/slide7.xml" Id="R54e72fbbedb34a38" /><Relationship Type="http://schemas.openxmlformats.org/officeDocument/2006/relationships/slide" Target="/ppt/slides/slide8.xml" Id="R19fceca0eeae4cc6" /><Relationship Type="http://schemas.openxmlformats.org/officeDocument/2006/relationships/slide" Target="/ppt/slides/slide9.xml" Id="Rd326cda5622f4fb7" /><Relationship Type="http://schemas.openxmlformats.org/officeDocument/2006/relationships/slide" Target="/ppt/slides/slide10.xml" Id="Re363017372d4486f" /><Relationship Type="http://schemas.openxmlformats.org/officeDocument/2006/relationships/slide" Target="/ppt/slides/slide11.xml" Id="R59e500678ea84f49" /><Relationship Type="http://schemas.openxmlformats.org/officeDocument/2006/relationships/slide" Target="/ppt/slides/slide12.xml" Id="R90a6e9abf9f74d6e" /><Relationship Type="http://schemas.openxmlformats.org/officeDocument/2006/relationships/slide" Target="/ppt/slides/slide13.xml" Id="Rf1fcd2ad92a94055" /><Relationship Type="http://schemas.openxmlformats.org/officeDocument/2006/relationships/slide" Target="/ppt/slides/slide14.xml" Id="R2be18e480acd4685" /><Relationship Type="http://schemas.openxmlformats.org/officeDocument/2006/relationships/slide" Target="/ppt/slides/slide15.xml" Id="R4dfbe01f70d04adb" /><Relationship Type="http://schemas.openxmlformats.org/officeDocument/2006/relationships/slide" Target="/ppt/slides/slide16.xml" Id="Rc2d3b9cbb31344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baef4990754d7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2800773ff04027" /><Relationship Type="http://schemas.openxmlformats.org/officeDocument/2006/relationships/notesMaster" Target="/ppt/notesMasters/notesMaster1.xml" Id="R577c0f2e7c8a4c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acddecd12204024" /><Relationship Type="http://schemas.openxmlformats.org/officeDocument/2006/relationships/notesMaster" Target="/ppt/notesMasters/notesMaster1.xml" Id="R5eedf1c0d6c947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c8ef5a57d84753" /><Relationship Type="http://schemas.openxmlformats.org/officeDocument/2006/relationships/notesMaster" Target="/ppt/notesMasters/notesMaster1.xml" Id="Ra5a0949c389c40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ea618f2101f43ce" /><Relationship Type="http://schemas.openxmlformats.org/officeDocument/2006/relationships/notesMaster" Target="/ppt/notesMasters/notesMaster1.xml" Id="R5e16fb21af11497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a5ef0a3a95420f" /><Relationship Type="http://schemas.openxmlformats.org/officeDocument/2006/relationships/notesMaster" Target="/ppt/notesMasters/notesMaster1.xml" Id="R854a226798e841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ccc74911cb7471c" /><Relationship Type="http://schemas.openxmlformats.org/officeDocument/2006/relationships/notesMaster" Target="/ppt/notesMasters/notesMaster1.xml" Id="R55f225bd31ab42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73bccb7c47341db" /><Relationship Type="http://schemas.openxmlformats.org/officeDocument/2006/relationships/notesMaster" Target="/ppt/notesMasters/notesMaster1.xml" Id="R982928b983b24a6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94e64a021134c6d" /><Relationship Type="http://schemas.openxmlformats.org/officeDocument/2006/relationships/notesMaster" Target="/ppt/notesMasters/notesMaster1.xml" Id="R4594bab73a81450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8063fc69548445e" /><Relationship Type="http://schemas.openxmlformats.org/officeDocument/2006/relationships/notesMaster" Target="/ppt/notesMasters/notesMaster1.xml" Id="R5fb78b26615247f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d1ffc20b5b74b77" /><Relationship Type="http://schemas.openxmlformats.org/officeDocument/2006/relationships/notesMaster" Target="/ppt/notesMasters/notesMaster1.xml" Id="R25b46c0a2f054f5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90b009becdc447d" /><Relationship Type="http://schemas.openxmlformats.org/officeDocument/2006/relationships/notesMaster" Target="/ppt/notesMasters/notesMaster1.xml" Id="R6b9b96d33c1d475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c808967cad84e80" /><Relationship Type="http://schemas.openxmlformats.org/officeDocument/2006/relationships/notesMaster" Target="/ppt/notesMasters/notesMaster1.xml" Id="Rb2f270f8967b497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cab1c3966b84394" /><Relationship Type="http://schemas.openxmlformats.org/officeDocument/2006/relationships/notesMaster" Target="/ppt/notesMasters/notesMaster1.xml" Id="R9f85e6515cdf424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707ed1954d04b62" /><Relationship Type="http://schemas.openxmlformats.org/officeDocument/2006/relationships/notesMaster" Target="/ppt/notesMasters/notesMaster1.xml" Id="Re195bc8191d146d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6a095e406364d20" /><Relationship Type="http://schemas.openxmlformats.org/officeDocument/2006/relationships/notesMaster" Target="/ppt/notesMasters/notesMaster1.xml" Id="Rff83ea59760e48b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59e5f6b92b34304" /><Relationship Type="http://schemas.openxmlformats.org/officeDocument/2006/relationships/notesMaster" Target="/ppt/notesMasters/notesMaster1.xml" Id="R44995e13cd56420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赛道 B 参赛作品；方向三：全球供应链与产业安全。</a:t>
            </a:r>
          </a:p>
          <a:p xmlns:a="http://schemas.openxmlformats.org/drawingml/2006/main">
            <a:r>
              <a:t>演示数据基于赛题虚构企业 XX 智能装备有限公司，不对应现实企业。</a:t>
            </a:r>
          </a:p>
          <a:p xmlns:a="http://schemas.openxmlformats.org/drawingml/2006/main">
            <a:r>
              <a:t>产品可在本地运行：streamlit run app.py。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一句话总结：用 AI 把地缘事件转成供应链可量化的风险和可比较的对策。</a:t>
            </a:r>
          </a:p>
          <a:p xmlns:a="http://schemas.openxmlformats.org/drawingml/2006/main">
            <a:r>
              <a:t>与指南附录一风险框架中“供应链生态网络的因果级联传导不确定性”对应。</a:t>
            </a:r>
          </a:p>
          <a:p xmlns:a="http://schemas.openxmlformats.org/drawingml/2006/main">
            <a:r>
              <a:t>数据与结论边界见 docs/test_cases.md。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本页问题概述来自指南附录一“风险框架与参考方向”以及公开可见的供应链风险讨论，不引用具体企业。</a:t>
            </a:r>
          </a:p>
          <a:p xmlns:a="http://schemas.openxmlformats.org/drawingml/2006/main">
            <a:r>
              <a:t>核心是评审点“用户场景与痛点是否有意义”。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场景取自指南附录二模拟企业的关键依赖设定（编码器、芯片、相机、订单）。</a:t>
            </a:r>
          </a:p>
          <a:p xmlns:a="http://schemas.openxmlformats.org/drawingml/2006/main">
            <a:r>
              <a:t>全部企业名、供应商、订单与事件均为虚构。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痛点来自产品设计方案文档与模拟企业场景归纳，用于回答“用户要完成的任务与痛点”。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现状与不足是基于目标用户常见工作方式的概括，用于引出产品定位。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雷达闭环 = 建模、感知、评估、推演，强调迭代而非一次性报告。</a:t>
            </a:r>
          </a:p>
          <a:p xmlns:a="http://schemas.openxmlformats.org/drawingml/2006/main">
            <a:r>
              <a:t>对应指南中“真实可交互”与“AI 合理使用”两条评审点。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用在结构化抽取、参数化和摘要，不代替专业判断。</a:t>
            </a:r>
          </a:p>
          <a:p xmlns:a="http://schemas.openxmlformats.org/drawingml/2006/main">
            <a:r>
              <a:t>评审关注“数据与 AI 边界”，对应案例 C/D 的保守策略。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截图来自本地运行的 Streamlit 应用第 2 页“依赖图谱”。</a:t>
            </a:r>
          </a:p>
          <a:p xmlns:a="http://schemas.openxmlformats.org/drawingml/2006/main">
            <a:r>
              <a:t>图中 9 节点、11 条边为模拟企业数据；上游不明以红色虚线表达。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核心模块为 chainshield/signals.py、llm.py、ingest.py。</a:t>
            </a:r>
          </a:p>
          <a:p xmlns:a="http://schemas.openxmlformats.org/drawingml/2006/main">
            <a:r>
              <a:t>截图为应用第 5 页；RSS 为真实抓取，样例源和事件内容均为模拟。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权重与叠加公式见 chainshield/risk.py，反事实校验见 chainshield/validation.py。</a:t>
            </a:r>
          </a:p>
          <a:p xmlns:a="http://schemas.openxmlformats.org/drawingml/2006/main">
            <a:r>
              <a:t>DEP-02 为模拟工业控制芯片，上游授权关系不明，故信息可见性风险满分。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推演引擎为 chainshield/scenario.py；截图来自应用第 4 页。</a:t>
            </a:r>
          </a:p>
          <a:p xmlns:a="http://schemas.openxmlformats.org/drawingml/2006/main">
            <a:r>
              <a:t>“第 17 周”来自当前模拟种子数据，测试口径见 docs/test_cases.md。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方案成本是数量级示意，不构成经营建议；比较逻辑见 app.py 方案比较页与 scripts/cases.py。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案例 A/B 的推演参数和结果来自 scripts/cases.py，验收口径见 docs/test_cases.md。</a:t>
            </a:r>
          </a:p>
          <a:p xmlns:a="http://schemas.openxmlformats.org/drawingml/2006/main">
            <a:r>
              <a:t>三批订单交付期第 8/12/16 周，均早于第 17 周断供点，因此“现有订单不受影响”是符合赛题设定的结论。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案例 C/D 为边界演示核心，回应评审点“边界意识：数据、证据与 AI 生成内容”。</a:t>
            </a:r>
          </a:p>
          <a:p xmlns:a="http://schemas.openxmlformats.org/drawingml/2006/main">
            <a:r>
              <a:t>相关行为见 chainshield/risk.py、scenario.py 与 app.py 第 6 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测试记录见 docs/test_cases.md 与 docs/iteration_log.md。</a:t>
            </a:r>
          </a:p>
          <a:p xmlns:a="http://schemas.openxmlformats.org/drawingml/2006/main">
            <a:r>
              <a:t>已知局限已在 README 与产品中披露，不隐藏模拟数据属性。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0e629bdde54af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9547253c4aa4f90" /><Relationship Type="http://schemas.openxmlformats.org/officeDocument/2006/relationships/slideLayout" Target="/ppt/slideLayouts/slideLayout1.xml" Id="R550914f27d3847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0914f27d3847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e62280abdf4ca0" /><Relationship Type="http://schemas.openxmlformats.org/officeDocument/2006/relationships/notesSlide" Target="/ppt/notesSlides/notesSlide1.xml" Id="Rd22c94585a3146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142fa1f3f3435b" /><Relationship Type="http://schemas.openxmlformats.org/officeDocument/2006/relationships/notesSlide" Target="/ppt/notesSlides/notesSlide2.xml" Id="R97e956849c444e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35853dfb84688" /><Relationship Type="http://schemas.openxmlformats.org/officeDocument/2006/relationships/notesSlide" Target="/ppt/notesSlides/notesSlide3.xml" Id="Ra763942556ab40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9b244c8b744304" /><Relationship Type="http://schemas.openxmlformats.org/officeDocument/2006/relationships/notesSlide" Target="/ppt/notesSlides/notesSlide4.xml" Id="Reb7c8e10534e4e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995c6996854d6a" /><Relationship Type="http://schemas.openxmlformats.org/officeDocument/2006/relationships/notesSlide" Target="/ppt/notesSlides/notesSlide5.xml" Id="Ra86142c3611b40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4431dd9dc44b85" /><Relationship Type="http://schemas.openxmlformats.org/officeDocument/2006/relationships/notesSlide" Target="/ppt/notesSlides/notesSlide6.xml" Id="Re204e507bc574de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111fe990f3486c" /><Relationship Type="http://schemas.openxmlformats.org/officeDocument/2006/relationships/notesSlide" Target="/ppt/notesSlides/notesSlide7.xml" Id="R7befb9e4fdab462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d6b416ec794a67" /><Relationship Type="http://schemas.openxmlformats.org/officeDocument/2006/relationships/notesSlide" Target="/ppt/notesSlides/notesSlide8.xml" Id="Rb6715d26d17442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2b1930a67b4859" /><Relationship Type="http://schemas.openxmlformats.org/officeDocument/2006/relationships/image" Target="/ppt/media/image.png" Id="R8d33f2ce5f6f48fa" /><Relationship Type="http://schemas.openxmlformats.org/officeDocument/2006/relationships/notesSlide" Target="/ppt/notesSlides/notesSlide9.xml" Id="R0aa7e19f293a46e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3c64029f684e86" /><Relationship Type="http://schemas.openxmlformats.org/officeDocument/2006/relationships/image" Target="/ppt/media/image2.png" Id="R521c7bc9f441441e" /><Relationship Type="http://schemas.openxmlformats.org/officeDocument/2006/relationships/notesSlide" Target="/ppt/notesSlides/notesSlide10.xml" Id="R05ccce9b7ca34fb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d2cb9742a74584" /><Relationship Type="http://schemas.openxmlformats.org/officeDocument/2006/relationships/image" Target="/ppt/media/image3.png" Id="R70e52a5fc3f64320" /><Relationship Type="http://schemas.openxmlformats.org/officeDocument/2006/relationships/notesSlide" Target="/ppt/notesSlides/notesSlide11.xml" Id="R0388ef11ae9b4d8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48d91f5d849f0" /><Relationship Type="http://schemas.openxmlformats.org/officeDocument/2006/relationships/image" Target="/ppt/media/image4.png" Id="R121540fff97a4b7a" /><Relationship Type="http://schemas.openxmlformats.org/officeDocument/2006/relationships/notesSlide" Target="/ppt/notesSlides/notesSlide12.xml" Id="Rfd92948e68544c0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184c6bbb3f4c6a" /><Relationship Type="http://schemas.openxmlformats.org/officeDocument/2006/relationships/notesSlide" Target="/ppt/notesSlides/notesSlide13.xml" Id="Rba1eefc7a0d642c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2c0ba68ce04045" /><Relationship Type="http://schemas.openxmlformats.org/officeDocument/2006/relationships/image" Target="/ppt/media/image5.png" Id="Rca37050765d040f2" /><Relationship Type="http://schemas.openxmlformats.org/officeDocument/2006/relationships/notesSlide" Target="/ppt/notesSlides/notesSlide14.xml" Id="R9e1c6eb8c49e44e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2a3ca8db52470d" /><Relationship Type="http://schemas.openxmlformats.org/officeDocument/2006/relationships/notesSlide" Target="/ppt/notesSlides/notesSlide15.xml" Id="Rb9785901468b400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0f0a5a4b2641fb" /><Relationship Type="http://schemas.openxmlformats.org/officeDocument/2006/relationships/notesSlide" Target="/ppt/notesSlides/notesSlide16.xml" Id="R4e20c3e5b20f47f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2E4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9914F1-B524-43D1-980D-A759947B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425" b="0">
                <a:solidFill>
                  <a:srgbClr val="B9D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B9D3E8"/>
                </a:solidFill>
                <a:latin typeface="Microsoft YaHei"/>
                <a:ea typeface="Microsoft YaHei"/>
                <a:cs typeface="Microsoft YaHei"/>
              </a:rPr>
              <a:t>AI+地缘政治风险高校挑战赛 · 赛道 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97A065-A93E-411C-AF20-10ACBA12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810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5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地缘风险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67F089-2024-4F89-91DD-E40A5D0C4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7660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0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DE830E-14B4-4407-B685-D9DF76CB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A9CC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A9CCE6"/>
                </a:solidFill>
                <a:latin typeface="Microsoft YaHei"/>
                <a:ea typeface="Microsoft YaHei"/>
                <a:cs typeface="Microsoft YaHei"/>
              </a:rPr>
              <a:t>供应链地缘风险雷达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68D0BD-1C9F-49F0-87F8-1BC5A4F0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914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0">
                <a:solidFill>
                  <a:srgbClr val="C9DA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C9DAE8"/>
                </a:solidFill>
                <a:latin typeface="Microsoft YaHei"/>
                <a:ea typeface="Microsoft YaHei"/>
                <a:cs typeface="Microsoft YaHei"/>
              </a:rPr>
              <a:t>面向高端智能装备企业的地缘风险识别、量化与情景推演工具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FB273D-53D8-4A62-81DB-F0EBF83A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388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425" b="0">
                <a:solidFill>
                  <a:srgbClr val="DCE7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DCE7F0"/>
                </a:solidFill>
                <a:latin typeface="Microsoft YaHei"/>
                <a:ea typeface="Microsoft YaHei"/>
                <a:cs typeface="Microsoft YaHei"/>
              </a:rPr>
              <a:t>西北民族大学    陈冶希、李宇欣</a:t>
            </a:r>
          </a:p>
        </p:txBody>
      </p:sp>
    </p:spTree>
    <p:extLst>
      <p:ext uri="{BB962C8B-B14F-4D97-AF65-F5344CB8AC3E}">
        <p14:creationId xmlns:p14="http://schemas.microsoft.com/office/powerpoint/2010/main" val="2382050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F56AE5-62FD-4C31-8A31-A96910265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项目摘要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DAD63E-569A-4ACB-A4CC-4B289776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A6A2ED-CC1E-453A-8A41-F01245E9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6C8DC4-A0B6-4A4B-9518-B75E4315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72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AI 帮助采购与供应链管理者看清依赖、感知信号、量化暴露、推演断供、比较对策。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C96E56-C145-49AA-BB27-C15D61CA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047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7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可运行 Web 应用：六个页面覆盖概览、图谱、暴露度、推演、信号与案例，本地一键启动、可交互演示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7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五因子暴露度评估：集中度、事件强度、可替代性、库存缓冲与信息可见性加权计分，构成逐项透明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7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情景推演与方案比较：计入在途订单和持续补货，支持多事件叠加与加库存、替代、组合、排产协商对比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7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赛题连接：聚焦供应链生态网络的因果级联传导不确定性，是地缘政治风险分析的行动推演应用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EF74E3-98E2-40C5-9F60-FFE78011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050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rPr>
              <a:t>演示企业与风险事件均为赛题虚构（XX 智能装备有限公司），不对应现实实体。</a:t>
            </a:r>
          </a:p>
        </p:txBody>
      </p:sp>
    </p:spTree>
    <p:extLst>
      <p:ext uri="{BB962C8B-B14F-4D97-AF65-F5344CB8AC3E}">
        <p14:creationId xmlns:p14="http://schemas.microsoft.com/office/powerpoint/2010/main" val="1801850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D6F179-DD1F-45A7-8750-14D565D5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地缘政治风险正在改写供应链规则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DC68A4-94ED-41A9-98DB-573C33DC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4A7965-0FED-4EC6-9483-F39B0E39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818B91-FDE0-4E64-AD05-641C0A1B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287000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800"/>
              </a:spcAft>
              <a:buNone/>
              <a:def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出口管制、航运中断与“技术阵营化”把关键件交期从数周拉长到数月，断供与违约风险上升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800"/>
              </a:spcAft>
              <a:buNone/>
              <a:def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中小制造企业普遍“看不到、算不出、来不及”：信息分散、依赖不透明、缺少推演能力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800"/>
              </a:spcAft>
              <a:buNone/>
              <a:def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依赖关系不透明，只能看见直接供应商，上游授权关系常是盲区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800"/>
              </a:spcAft>
              <a:buNone/>
              <a:def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风险信号分散在政策文件、新闻、供应商函件中，人工跟踪成本高且容易遗漏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800"/>
              </a:spcAft>
              <a:buNone/>
              <a:def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影响无法量化，说不清哪个环节最危险、库存能撑多久、哪套对策更稳妥</a:t>
            </a:r>
          </a:p>
        </p:txBody>
      </p:sp>
    </p:spTree>
    <p:extLst>
      <p:ext uri="{BB962C8B-B14F-4D97-AF65-F5344CB8AC3E}">
        <p14:creationId xmlns:p14="http://schemas.microsoft.com/office/powerpoint/2010/main" val="19983544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8805F4-7E5E-4B6E-BE24-4FCA31DA5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目标用户与使用场景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C70CC0-8EC4-4378-AE1A-BD28C97E1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770DC3-AE90-46A8-97B8-C0977859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8D57EE-36FF-4978-ADC9-C5F2AF02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三类核心用户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4A36EF-30EC-443C-A9FC-4CD1D7D0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50482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采购与供应链管理者：识别最易受冲击的依赖，评估替代来源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生产管理者：判断库存可支撑周数与订单排产影响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战略部门：跟踪政策与运输变化，提前调整备货与供应策略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9C85B0-E704-41E7-B8EA-C3F8EA1F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3906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模拟场景（虚构企业）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C7EAF6-CB76-49F5-AB6C-84727E82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28800"/>
            <a:ext cx="5238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三条关键进口依赖：日本编码器、新加坡经销芯片、德国工业相机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出口审查收紧后，关键件交期由 8 周量级升至 20 周量级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关键件安全库存约 12 周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未来四个月有 3 批国内外订单待交付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4B8264-72E0-4DFF-B487-9D4D02B5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050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rPr>
              <a:t>模拟企业为“XX 智能装备有限公司”，数据仅供演示，不代表现实经营情况。</a:t>
            </a:r>
          </a:p>
        </p:txBody>
      </p:sp>
    </p:spTree>
    <p:extLst>
      <p:ext uri="{BB962C8B-B14F-4D97-AF65-F5344CB8AC3E}">
        <p14:creationId xmlns:p14="http://schemas.microsoft.com/office/powerpoint/2010/main" val="9254529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AE67BD-59FE-4B9D-919B-DB285D0C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用户要完成的任务与痛点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F8E230-2F90-4EDA-A595-AB606A7C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CF990E-8D86-433C-8C1F-01462874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2DADE-0D86-4326-824B-7AAA3234F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决策任务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130321-40B0-45FD-8C0B-B6D075917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4953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识别哪条关键依赖最脆弱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判断风险信号对交期与供应的实际影响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决定加库存、启动替代或与客户协商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跟进不确定信息，避免把传闻当事实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27F39C-1BAE-4DAA-837C-309CFAB2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3906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任务做不下去的四个痛点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9B9547-D6DE-49BB-BDDB-83173CF2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66900"/>
            <a:ext cx="5238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上游授权关系不明，看不见二级供应商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采购、生产、销售数据彼此割裂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风险信号多而杂，人工跟踪容易漏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暴露程度与对策效果难以量化，决策靠经验</a:t>
            </a:r>
          </a:p>
        </p:txBody>
      </p:sp>
    </p:spTree>
    <p:extLst>
      <p:ext uri="{BB962C8B-B14F-4D97-AF65-F5344CB8AC3E}">
        <p14:creationId xmlns:p14="http://schemas.microsoft.com/office/powerpoint/2010/main" val="8253695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815E3D-4B17-4D07-8301-F87778468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现有解决方式与不足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30D4F0-B7F5-4297-AA92-F4F685EC1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C8522E-F9A1-4392-8A89-49C71748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6680C9-E12D-46F0-8B7F-BF6503DB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6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现在主要靠台账、邮件和订阅报告，信息是静态、滞后的。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2952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143250"/>
                <a:gridCol w="7677150"/>
              </a:tblGrid>
              <a:tr h="738188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现有方式</a:t>
                      </a:r>
                    </a:p>
                  </a:txBody>
                  <a:tcPr marL="91440" marR="91440" marT="45720" marB="45720" anchor="ctr">
                    <a:solidFill>
                      <a:srgbClr val="0E2E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不足</a:t>
                      </a:r>
                    </a:p>
                  </a:txBody>
                  <a:tcPr marL="91440" marR="91440" marT="45720" marB="45720" anchor="ctr">
                    <a:solidFill>
                      <a:srgbClr val="0E2E4C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Excel 台账与邮件通报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更新靠人工，跨部门版本不一致，风险发生时响应慢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咨询与行业报告订阅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更新周期长，无法逐事件回答“对我们影响有多大”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人工经验判断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难以量化暴露度，也难以比较加库存、替代、协商等方案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8FE266-800D-4466-B326-544DAD3C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需要的是把持续监测、量化暴露与情景推演放到一个工作流里的工具。</a:t>
            </a:r>
          </a:p>
        </p:txBody>
      </p:sp>
    </p:spTree>
    <p:extLst>
      <p:ext uri="{BB962C8B-B14F-4D97-AF65-F5344CB8AC3E}">
        <p14:creationId xmlns:p14="http://schemas.microsoft.com/office/powerpoint/2010/main" val="9948716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B12D9A-4D34-4B02-9562-83DFEB83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解决思路：四步雷达闭环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C2103A-9AF5-4BC1-8E54-C0C5789C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8DA29-0D8B-4968-AFB2-6D429DBE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398B4C-3B2E-4E98-BDFE-C0968DAA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4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BD8C1A-2C44-4199-B1B2-600A3CBA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87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依赖建模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7E3930-F94B-4422-AF65-6E47A9969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2476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rPr>
              <a:t>把供应商、组件、订单与上游关系整理成可查询的依赖图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0D895A-4817-4300-B754-2A29C312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981200"/>
            <a:ext cx="19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0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57E33C-FC4A-4395-8B28-BD0F50DD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8669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4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842FE7-26DB-47B6-9F5B-46F1C40E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3812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87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信号感知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E7A2BB-34A7-4BA4-9401-E0395D0A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895600"/>
            <a:ext cx="2476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rPr>
              <a:t>巡检政策、新闻与 RSS 源，由 AI 抽取结构化风险事件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36EDD3-17AC-4D4E-AF2B-66202A7F6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981200"/>
            <a:ext cx="19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0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04109C-CD76-4941-9169-0D0A41C9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669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4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C990CC-786A-4D8B-A194-FA4420FE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812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87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暴露评估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28A0DD-DCCA-4699-AF13-A0203088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95600"/>
            <a:ext cx="2476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rPr>
              <a:t>用五个可解释因子给每条依赖计算暴露分数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CE10B6-8FB3-46E4-A660-A8DAA2853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81200"/>
            <a:ext cx="19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0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22BED8-0C6D-4D86-80E2-5418EC3A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669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4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3C241B-AD80-4ECB-827E-AC5CD5F6E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812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87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情景推演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2652CD-448B-4587-9D0F-00A02EF8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95600"/>
            <a:ext cx="2476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rPr>
              <a:t>推演断供周次、库存曲线，并比较应对方案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FF3512-771D-49ED-B8D0-34B4ECC6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四步循环运转：推演结果暴露数据缺口，缺口再回填到依赖建模与信号源配置。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EEE6CD-D3B9-46CB-82B8-2C6E95A4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900"/>
              </a:spcAft>
              <a:buNone/>
              <a:defRPr sz="13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每一步都保留证据链接与置信度标记，最终判断留给使用者确认</a:t>
            </a:r>
          </a:p>
        </p:txBody>
      </p:sp>
    </p:spTree>
    <p:extLst>
      <p:ext uri="{BB962C8B-B14F-4D97-AF65-F5344CB8AC3E}">
        <p14:creationId xmlns:p14="http://schemas.microsoft.com/office/powerpoint/2010/main" val="6787996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C4C63F-938E-4202-997E-25D5DAF7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AI 的角色与人机协作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ED3D47-EF29-4DA5-91C4-5F1241BF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CDBA9D-0333-4A1B-8C0E-53C62FE7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F793EE-CA3A-4703-A3C4-2916AE02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AI 承担的工作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5D4A3D-4D10-4086-8D0E-3EB638D8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9530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把政策、新闻与函件文本结构化，抽取事件要素与证据链接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将事件自动转成推演参数，如交期变化、在途延误与供应削减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生成事件摘要、暴露度说明与行动建议草稿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EB77A2-7441-4369-9F28-183460DB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4097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边界与人工把关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72C297-9E6A-4E92-ACF3-1FF7FEA2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85950"/>
            <a:ext cx="5238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事实、推断与待核实分开标注，低置信度内容不进入评分和推演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上游信息缺失时不编造结论，输出索取授权链与尽调建议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交期、库存、替代周期等参数由使用者校准，重大决策保留人工确认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A436F-EE74-4B4D-BBF0-D93FF504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AI 负责把信息变成可复核的判断依据，而不是替企业做最终决定。</a:t>
            </a:r>
          </a:p>
        </p:txBody>
      </p:sp>
    </p:spTree>
    <p:extLst>
      <p:ext uri="{BB962C8B-B14F-4D97-AF65-F5344CB8AC3E}">
        <p14:creationId xmlns:p14="http://schemas.microsoft.com/office/powerpoint/2010/main" val="6345900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B2FF57-18A4-48CD-B882-C178BC31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核心功能一：供应链依赖建模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D5E111-A236-4BC4-AF8A-4DF105B2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F08DC0-3C16-4506-BC10-C3A72BB52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6CFCE7-8C36-4001-A9F4-274305BA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7625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把“供应商、组件、订单”整理成多级依赖图谱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标注采购份额、当前交期、库存周数与可替代性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集中度指标帮助定位单源、单国依赖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上游授权关系不明时用红色虚线标出，明确信息缺口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33f2ce5f6f48fa"/>
          <a:stretch xmlns:a="http://schemas.openxmlformats.org/drawingml/2006/main"/>
        </p:blipFill>
        <p:spPr>
          <a:xfrm xmlns:a="http://schemas.openxmlformats.org/drawingml/2006/main">
            <a:off x="5966343" y="1428750"/>
            <a:ext cx="5536163" cy="3390900"/>
          </a:xfrm>
          <a:prstGeom xmlns:a="http://schemas.openxmlformats.org/drawingml/2006/main" prst="roundRect">
            <a:avLst>
              <a:gd name="adj" fmla="val 224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F8A2BA-6FBC-4209-9E10-B4053D36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914900"/>
            <a:ext cx="550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rPr>
              <a:t>本地运行版本：依赖图谱页实拍，数据场景虚构</a:t>
            </a:r>
          </a:p>
        </p:txBody>
      </p:sp>
    </p:spTree>
    <p:extLst>
      <p:ext uri="{BB962C8B-B14F-4D97-AF65-F5344CB8AC3E}">
        <p14:creationId xmlns:p14="http://schemas.microsoft.com/office/powerpoint/2010/main" val="7379758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A3E7CD-54B3-44D1-BDF4-72F7D242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核心功能二：风险信号雷达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421C1E-60B8-45A7-BDCB-F13B8658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C0C5C3-92CF-4556-9AD3-649EF0E0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CC1CD7-76D1-4D44-A891-6825F8E7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7625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巡检模拟样例源与 RSS/Atom 源，把文本送入事件抽取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AI 抽取主体、国家、措施、影响对象与来源链接，结构化为事件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按“标题 + 日期”去重写入事件库，命中依赖时参与评估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配置 API Key 走真实模型；无 Key 时自动离线占位并标记待核实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1c7bc9f441441e"/>
          <a:stretch xmlns:a="http://schemas.openxmlformats.org/drawingml/2006/main"/>
        </p:blipFill>
        <p:spPr>
          <a:xfrm xmlns:a="http://schemas.openxmlformats.org/drawingml/2006/main">
            <a:off x="5966343" y="1428750"/>
            <a:ext cx="5536163" cy="3390900"/>
          </a:xfrm>
          <a:prstGeom xmlns:a="http://schemas.openxmlformats.org/drawingml/2006/main" prst="roundRect">
            <a:avLst>
              <a:gd name="adj" fmla="val 224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5293BD-2001-41AA-A6CF-99982302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914900"/>
            <a:ext cx="550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rPr>
              <a:t>本地运行版本：事件库与信号导入页实拍</a:t>
            </a:r>
          </a:p>
        </p:txBody>
      </p:sp>
    </p:spTree>
    <p:extLst>
      <p:ext uri="{BB962C8B-B14F-4D97-AF65-F5344CB8AC3E}">
        <p14:creationId xmlns:p14="http://schemas.microsoft.com/office/powerpoint/2010/main" val="11212345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D81EA1-F24C-45B7-A5F3-E0F54FB7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核心功能三：暴露度评估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A154FE-2EF6-4B65-908C-E63BB2BB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7980B5-91AC-4BCD-8641-72CF3377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A421-3579-4735-9D6C-60634F751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42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综合暴露度 = 集中度20% + 事件强度25% + 可替代性20% + 库存缓冲15% + 信息可见性20%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ADFF0E-4C16-4E4B-86F4-B9168B6E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7625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事件强度按多事件叠加衰减公式计算，不简单相加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输出综合分数、风险等级与主要风险因子，分数构成逐项可见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界面可调整权重并查看敏感性，反事实案例校验 4/4 通过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模拟数据结果：芯片 DEP-02 71.5 分（高），主因信息可见性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e52a5fc3f64320"/>
          <a:stretch xmlns:a="http://schemas.openxmlformats.org/drawingml/2006/main"/>
        </p:blipFill>
        <p:spPr>
          <a:xfrm xmlns:a="http://schemas.openxmlformats.org/drawingml/2006/main">
            <a:off x="6168507" y="2190750"/>
            <a:ext cx="5131837" cy="3143250"/>
          </a:xfrm>
          <a:prstGeom xmlns:a="http://schemas.openxmlformats.org/drawingml/2006/main" prst="roundRect">
            <a:avLst>
              <a:gd name="adj" fmla="val 2424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EAA6F2-2EA9-4E91-8A5A-EBAF5FB3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429250"/>
            <a:ext cx="550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rPr>
              <a:t>本地运行版本：暴露度评估页（权重调节与敏感性检查）</a:t>
            </a:r>
          </a:p>
        </p:txBody>
      </p:sp>
    </p:spTree>
    <p:extLst>
      <p:ext uri="{BB962C8B-B14F-4D97-AF65-F5344CB8AC3E}">
        <p14:creationId xmlns:p14="http://schemas.microsoft.com/office/powerpoint/2010/main" val="46270973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6299A1-C9DB-4707-90D6-CE780088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核心功能四：情景推演器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115D93-0604-4E24-ABB2-82290662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B1D67-CAF4-4054-BA75-445C60300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205F67-BEE7-4CC9-9802-39BCBC6D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5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按“库存 + 在途订单 + 持续补货”逐周推演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5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输出断供周次、库存消耗曲线、订单状态与风险提示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5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多事件命中同一依赖时自动合并冲击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5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待核实事件默认不参与推演，只作为显式假设分析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21C728-7137-47ED-A99B-58FB7298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3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案例结果：DEP-01 完全断供约第 17 周见底，现有 3 批订单在第 8/12/16 周交付，先于断供点。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1540fff97a4b7a"/>
          <a:stretch xmlns:a="http://schemas.openxmlformats.org/drawingml/2006/main"/>
        </p:blipFill>
        <p:spPr>
          <a:xfrm xmlns:a="http://schemas.openxmlformats.org/drawingml/2006/main">
            <a:off x="5966343" y="1428750"/>
            <a:ext cx="5536163" cy="3390900"/>
          </a:xfrm>
          <a:prstGeom xmlns:a="http://schemas.openxmlformats.org/drawingml/2006/main" prst="roundRect">
            <a:avLst>
              <a:gd name="adj" fmla="val 224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655D44-F7A0-48D9-8E23-9EEEF9C2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914900"/>
            <a:ext cx="550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rPr>
              <a:t>本地运行版本：情景推演页实拍</a:t>
            </a:r>
          </a:p>
        </p:txBody>
      </p:sp>
    </p:spTree>
    <p:extLst>
      <p:ext uri="{BB962C8B-B14F-4D97-AF65-F5344CB8AC3E}">
        <p14:creationId xmlns:p14="http://schemas.microsoft.com/office/powerpoint/2010/main" val="110549201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082A13-DEAF-4F57-BD1A-3ED5A7D1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核心功能五：应对方案比较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43C18F-B3E9-446E-AED8-66832A10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4EAA37-65A7-4AF6-95C1-10DE2E95F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85800" y="1428750"/>
          <a:ext xmlns:a="http://schemas.openxmlformats.org/drawingml/2006/main" cx="10820400" cy="33528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428750"/>
                <a:gridCol w="2381250"/>
                <a:gridCol w="2381250"/>
                <a:gridCol w="4629150"/>
              </a:tblGrid>
              <a:tr h="67056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方案</a:t>
                      </a:r>
                    </a:p>
                  </a:txBody>
                  <a:tcPr marL="91440" marR="91440" marT="45720" marB="45720" anchor="ctr">
                    <a:solidFill>
                      <a:srgbClr val="0E2E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思路</a:t>
                      </a:r>
                    </a:p>
                  </a:txBody>
                  <a:tcPr marL="91440" marR="91440" marT="45720" marB="45720" anchor="ctr">
                    <a:solidFill>
                      <a:srgbClr val="0E2E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主要代价</a:t>
                      </a:r>
                    </a:p>
                  </a:txBody>
                  <a:tcPr marL="91440" marR="91440" marT="45720" marB="45720" anchor="ctr">
                    <a:solidFill>
                      <a:srgbClr val="0E2E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适用时点</a:t>
                      </a:r>
                    </a:p>
                  </a:txBody>
                  <a:tcPr marL="91440" marR="91440" marT="45720" marB="45720" anchor="ctr">
                    <a:solidFill>
                      <a:srgbClr val="0E2E4C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加库存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提前锁定缓冲用量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资金占用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信号初现且资金可腾挪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替代供应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启动国产替代认证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认证与样品费用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替代准备时间足够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组合方案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暂存缓冲与替代并行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两者之和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断供临近、窗口不足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排产协商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与客户调整交付顺序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商务成本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订单集中、短期难补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68F790-04D3-47E8-97EF-74CEC29E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模拟推演：替代约第 18 周就绪，而断供第 17 周发生，组合方案更能避免断供。成本与周期为数量级示意。</a:t>
            </a:r>
          </a:p>
        </p:txBody>
      </p:sp>
    </p:spTree>
    <p:extLst>
      <p:ext uri="{BB962C8B-B14F-4D97-AF65-F5344CB8AC3E}">
        <p14:creationId xmlns:p14="http://schemas.microsoft.com/office/powerpoint/2010/main" val="4726596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C811AC-BDEC-4F2A-BFDF-6735FA09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实际用例演示（A / B）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B4218B-F067-4854-8652-1E494E8FF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92BFE6-8C7E-44D5-9FA9-5D80213A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30C0C4-1D59-4BCC-B37F-B32D01CAD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762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案例 A：日本编码器出口审查收紧，交期升至 20 周，推演出第 17 周断供，三批现有订单在断供前完成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案例 B：红海航运风险经新加坡传导，芯片在途延误 4 周、新交期 20 周，跨组件影响被量化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两个案例都触发“断供后新增订单无缓冲”提示，并进入方案比较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演示口径保持克制，不夸大为“现有订单受损”，明确系统边界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37050765d040f2"/>
          <a:stretch xmlns:a="http://schemas.openxmlformats.org/drawingml/2006/main"/>
        </p:blipFill>
        <p:spPr>
          <a:xfrm xmlns:a="http://schemas.openxmlformats.org/drawingml/2006/main">
            <a:off x="5966343" y="1428750"/>
            <a:ext cx="5536163" cy="3390900"/>
          </a:xfrm>
          <a:prstGeom xmlns:a="http://schemas.openxmlformats.org/drawingml/2006/main" prst="roundRect">
            <a:avLst>
              <a:gd name="adj" fmla="val 224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AF392-A176-4B2D-BD7E-D92F1FE2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914900"/>
            <a:ext cx="550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rPr>
              <a:t>本地运行版本：案例与边界演示页实拍</a:t>
            </a:r>
          </a:p>
        </p:txBody>
      </p:sp>
    </p:spTree>
    <p:extLst>
      <p:ext uri="{BB962C8B-B14F-4D97-AF65-F5344CB8AC3E}">
        <p14:creationId xmlns:p14="http://schemas.microsoft.com/office/powerpoint/2010/main" val="147605687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69F0A4-B40F-4510-86EE-AF2C1E9E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边界案例演示与 AI 可信边界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11D3A7-AB30-4AAF-9891-93DB41C7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A0A074-1454-4B5C-986F-837D75EC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851038-9705-4500-A9E3-8E2FC248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2870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2000"/>
              </a:spcAft>
              <a:buNone/>
              <a:def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案例 C：芯片上游授权关系不明，系统给出信息可见性满分并明确“高不确定性”，建议索取授权链或人工尽调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2000"/>
              </a:spcAft>
              <a:buNone/>
              <a:def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案例 D：美国出口限制仅为低置信度报道，系统将其归入“待核实”，不参与评分与推演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2000"/>
              </a:spcAft>
              <a:buNone/>
              <a:def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默认策略保守：宁可少下结论，也不把不确定报道当作事实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2000"/>
              </a:spcAft>
              <a:buNone/>
              <a:def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系统失效与人工接管点：冲突报道仍需人工结构化；交期、库存与替代周期等输入需使用者校准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34EFFF-5E23-46EB-923C-C9FBFB47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系统把“哪些证据支持结论、哪些仍待核实”摊开给使用者，而不是输出黑盒判断。</a:t>
            </a:r>
          </a:p>
        </p:txBody>
      </p:sp>
    </p:spTree>
    <p:extLst>
      <p:ext uri="{BB962C8B-B14F-4D97-AF65-F5344CB8AC3E}">
        <p14:creationId xmlns:p14="http://schemas.microsoft.com/office/powerpoint/2010/main" val="21359045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7D0C87-1F7C-480E-9D36-B15802C7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测试、迭代与已知局限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E1A6DC-1375-4C5D-B710-F1D8D035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2D1056-CAB8-483F-8D2A-C276E9CC0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85800" y="1333500"/>
          <a:ext xmlns:a="http://schemas.openxmlformats.org/drawingml/2006/main" cx="10820400" cy="2095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4476750"/>
                <a:gridCol w="6343650"/>
              </a:tblGrid>
              <a:tr h="5238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验证项</a:t>
                      </a:r>
                    </a:p>
                  </a:txBody>
                  <a:tcPr marL="91440" marR="91440" marT="45720" marB="45720" anchor="ctr">
                    <a:solidFill>
                      <a:srgbClr val="0E2E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结果</a:t>
                      </a:r>
                    </a:p>
                  </a:txBody>
                  <a:tcPr marL="91440" marR="91440" marT="45720" marB="45720" anchor="ctr">
                    <a:solidFill>
                      <a:srgbClr val="0E2E4C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案例 A–D 自动化回归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 项断言全部 PASS（scripts/cases.py）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暴露度敏感性与反事实校验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4/4 PASS（chainshield/validation.py）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冒烟演示与六个界面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全部可运行，无运行异常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A8A097-14BD-42BE-808D-941C9C4E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10477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局限：当前使用赛题虚构的模拟数据，不代表真实企业情况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局限：同一议题的冲突报道尚无专门消解模型，采用保守降级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局限：推演依赖交期、库存与替代周期假设，需要使用者校准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后续：接入真实公开数据、多来源冲突消解、按企业定制</a:t>
            </a:r>
          </a:p>
        </p:txBody>
      </p:sp>
    </p:spTree>
    <p:extLst>
      <p:ext uri="{BB962C8B-B14F-4D97-AF65-F5344CB8AC3E}">
        <p14:creationId xmlns:p14="http://schemas.microsoft.com/office/powerpoint/2010/main" val="17377527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2026-09-08T04:04:12.1890000Z</dcterms:created>
  <dcterms:modified xsi:type="dcterms:W3CDTF">2026-09-08T04:04:12.1890000Z</dcterms:modified>
</coreProperties>
</file>