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071ee09ff40d3" /><Relationship Type="http://schemas.openxmlformats.org/officeDocument/2006/relationships/extended-properties" Target="/docProps/app.xml" Id="Rec4ba9d4112b4478" /><Relationship Type="http://schemas.openxmlformats.org/officeDocument/2006/relationships/officeDocument" Target="/ppt/presentation.xml" Id="R906ba3a0180a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d0d63b9574474b"/>
  </p:sldMasterIdLst>
  <p:notesMasterIdLst>
    <p:notesMasterId xmlns:r="http://schemas.openxmlformats.org/officeDocument/2006/relationships" r:id="Re0cc3fa01ede4f58"/>
  </p:notesMasterIdLst>
  <p:sldIdLst>
    <p:sldId xmlns:r="http://schemas.openxmlformats.org/officeDocument/2006/relationships" id="256" r:id="R642c03bdd3134023"/>
    <p:sldId xmlns:r="http://schemas.openxmlformats.org/officeDocument/2006/relationships" id="257" r:id="R53316d6b637d44ae"/>
    <p:sldId xmlns:r="http://schemas.openxmlformats.org/officeDocument/2006/relationships" id="258" r:id="R38482b12c95b4683"/>
    <p:sldId xmlns:r="http://schemas.openxmlformats.org/officeDocument/2006/relationships" id="259" r:id="R10409c2454074999"/>
    <p:sldId xmlns:r="http://schemas.openxmlformats.org/officeDocument/2006/relationships" id="260" r:id="R1c2e4dae9d9843d5"/>
    <p:sldId xmlns:r="http://schemas.openxmlformats.org/officeDocument/2006/relationships" id="261" r:id="Rf068b47d44f9459c"/>
    <p:sldId xmlns:r="http://schemas.openxmlformats.org/officeDocument/2006/relationships" id="262" r:id="R67c192fb13424fa4"/>
    <p:sldId xmlns:r="http://schemas.openxmlformats.org/officeDocument/2006/relationships" id="263" r:id="Rba479e465b894b08"/>
    <p:sldId xmlns:r="http://schemas.openxmlformats.org/officeDocument/2006/relationships" id="264" r:id="R0472304031ea4ead"/>
    <p:sldId xmlns:r="http://schemas.openxmlformats.org/officeDocument/2006/relationships" id="265" r:id="R25b94b66e26c479b"/>
    <p:sldId xmlns:r="http://schemas.openxmlformats.org/officeDocument/2006/relationships" id="266" r:id="R68a35033607f49d3"/>
    <p:sldId xmlns:r="http://schemas.openxmlformats.org/officeDocument/2006/relationships" id="267" r:id="Ra1d26cf2976940f1"/>
    <p:sldId xmlns:r="http://schemas.openxmlformats.org/officeDocument/2006/relationships" id="268" r:id="R26d922e569af4403"/>
    <p:sldId xmlns:r="http://schemas.openxmlformats.org/officeDocument/2006/relationships" id="269" r:id="R7efe244431b74ad8"/>
    <p:sldId xmlns:r="http://schemas.openxmlformats.org/officeDocument/2006/relationships" id="270" r:id="R34f005f1c0a345b5"/>
    <p:sldId xmlns:r="http://schemas.openxmlformats.org/officeDocument/2006/relationships" id="271" r:id="R702696803ad8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c56468480c41e4" /><Relationship Type="http://schemas.openxmlformats.org/officeDocument/2006/relationships/slideMaster" Target="/ppt/slideMasters/slideMaster1.xml" Id="R8bd0d63b9574474b" /><Relationship Type="http://schemas.openxmlformats.org/officeDocument/2006/relationships/notesMaster" Target="/ppt/notesMasters/notesMaster1.xml" Id="Re0cc3fa01ede4f58" /><Relationship Type="http://schemas.openxmlformats.org/officeDocument/2006/relationships/presProps" Target="/ppt/presProps.xml" Id="R6f6d8edbfb3c4872" /><Relationship Type="http://schemas.openxmlformats.org/officeDocument/2006/relationships/tableStyles" Target="/ppt/tableStyles.xml" Id="R939a61517eb64472" /><Relationship Type="http://schemas.openxmlformats.org/officeDocument/2006/relationships/slide" Target="/ppt/slides/slide1.xml" Id="R642c03bdd3134023" /><Relationship Type="http://schemas.openxmlformats.org/officeDocument/2006/relationships/slide" Target="/ppt/slides/slide2.xml" Id="R53316d6b637d44ae" /><Relationship Type="http://schemas.openxmlformats.org/officeDocument/2006/relationships/slide" Target="/ppt/slides/slide3.xml" Id="R38482b12c95b4683" /><Relationship Type="http://schemas.openxmlformats.org/officeDocument/2006/relationships/slide" Target="/ppt/slides/slide4.xml" Id="R10409c2454074999" /><Relationship Type="http://schemas.openxmlformats.org/officeDocument/2006/relationships/slide" Target="/ppt/slides/slide5.xml" Id="R1c2e4dae9d9843d5" /><Relationship Type="http://schemas.openxmlformats.org/officeDocument/2006/relationships/slide" Target="/ppt/slides/slide6.xml" Id="Rf068b47d44f9459c" /><Relationship Type="http://schemas.openxmlformats.org/officeDocument/2006/relationships/slide" Target="/ppt/slides/slide7.xml" Id="R67c192fb13424fa4" /><Relationship Type="http://schemas.openxmlformats.org/officeDocument/2006/relationships/slide" Target="/ppt/slides/slide8.xml" Id="Rba479e465b894b08" /><Relationship Type="http://schemas.openxmlformats.org/officeDocument/2006/relationships/slide" Target="/ppt/slides/slide9.xml" Id="R0472304031ea4ead" /><Relationship Type="http://schemas.openxmlformats.org/officeDocument/2006/relationships/slide" Target="/ppt/slides/slide10.xml" Id="R25b94b66e26c479b" /><Relationship Type="http://schemas.openxmlformats.org/officeDocument/2006/relationships/slide" Target="/ppt/slides/slide11.xml" Id="R68a35033607f49d3" /><Relationship Type="http://schemas.openxmlformats.org/officeDocument/2006/relationships/slide" Target="/ppt/slides/slide12.xml" Id="Ra1d26cf2976940f1" /><Relationship Type="http://schemas.openxmlformats.org/officeDocument/2006/relationships/slide" Target="/ppt/slides/slide13.xml" Id="R26d922e569af4403" /><Relationship Type="http://schemas.openxmlformats.org/officeDocument/2006/relationships/slide" Target="/ppt/slides/slide14.xml" Id="R7efe244431b74ad8" /><Relationship Type="http://schemas.openxmlformats.org/officeDocument/2006/relationships/slide" Target="/ppt/slides/slide15.xml" Id="R34f005f1c0a345b5" /><Relationship Type="http://schemas.openxmlformats.org/officeDocument/2006/relationships/slide" Target="/ppt/slides/slide16.xml" Id="R702696803ad8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51aed67be847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c2ef7c1dc4918" /><Relationship Type="http://schemas.openxmlformats.org/officeDocument/2006/relationships/notesMaster" Target="/ppt/notesMasters/notesMaster1.xml" Id="R55ebfb1a1f35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2f714b8c441f1" /><Relationship Type="http://schemas.openxmlformats.org/officeDocument/2006/relationships/notesMaster" Target="/ppt/notesMasters/notesMaster1.xml" Id="R6ca49b8ba5f84b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b8c6fd55014a3d" /><Relationship Type="http://schemas.openxmlformats.org/officeDocument/2006/relationships/notesMaster" Target="/ppt/notesMasters/notesMaster1.xml" Id="Rbbbb656f7e8347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9e811b4f6401f" /><Relationship Type="http://schemas.openxmlformats.org/officeDocument/2006/relationships/notesMaster" Target="/ppt/notesMasters/notesMaster1.xml" Id="R974772b784bc40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2383204814437" /><Relationship Type="http://schemas.openxmlformats.org/officeDocument/2006/relationships/notesMaster" Target="/ppt/notesMasters/notesMaster1.xml" Id="R9393761db78a45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6e372d46ba493c" /><Relationship Type="http://schemas.openxmlformats.org/officeDocument/2006/relationships/notesMaster" Target="/ppt/notesMasters/notesMaster1.xml" Id="R66e631ddcac241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1ec29d2c8148b2" /><Relationship Type="http://schemas.openxmlformats.org/officeDocument/2006/relationships/notesMaster" Target="/ppt/notesMasters/notesMaster1.xml" Id="Rfedc60f56e66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f1b71556845ca" /><Relationship Type="http://schemas.openxmlformats.org/officeDocument/2006/relationships/notesMaster" Target="/ppt/notesMasters/notesMaster1.xml" Id="R9e130649cf0a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a9b48cbe694dd8" /><Relationship Type="http://schemas.openxmlformats.org/officeDocument/2006/relationships/notesMaster" Target="/ppt/notesMasters/notesMaster1.xml" Id="R6117caca0d7647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3cef6064b148d0" /><Relationship Type="http://schemas.openxmlformats.org/officeDocument/2006/relationships/notesMaster" Target="/ppt/notesMasters/notesMaster1.xml" Id="R67b3a7032cdd4f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2b5ab379d453f" /><Relationship Type="http://schemas.openxmlformats.org/officeDocument/2006/relationships/notesMaster" Target="/ppt/notesMasters/notesMaster1.xml" Id="R50c97bd3872544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63b7005026427e" /><Relationship Type="http://schemas.openxmlformats.org/officeDocument/2006/relationships/notesMaster" Target="/ppt/notesMasters/notesMaster1.xml" Id="R5dd3401a294947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2a8c544f944ad4" /><Relationship Type="http://schemas.openxmlformats.org/officeDocument/2006/relationships/notesMaster" Target="/ppt/notesMasters/notesMaster1.xml" Id="R0b8dc84874bc4b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b82dd5fd4440fb" /><Relationship Type="http://schemas.openxmlformats.org/officeDocument/2006/relationships/notesMaster" Target="/ppt/notesMasters/notesMaster1.xml" Id="R50949664c3654e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c1ef9ce39045c2" /><Relationship Type="http://schemas.openxmlformats.org/officeDocument/2006/relationships/notesMaster" Target="/ppt/notesMasters/notesMaster1.xml" Id="R01a8acf8898940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e7e101da2247f3" /><Relationship Type="http://schemas.openxmlformats.org/officeDocument/2006/relationships/notesMaster" Target="/ppt/notesMasters/notesMaster1.xml" Id="Rcfc13fd557ad48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赛道 B 参赛作品；方向三：全球供应链与产业安全。</a:t>
            </a:r>
          </a:p>
          <a:p xmlns:a="http://schemas.openxmlformats.org/drawingml/2006/main">
            <a:r>
              <a:t>演示数据基于赛题虚构企业 XX 智能装备有限公司，不对应现实企业。</a:t>
            </a:r>
          </a:p>
          <a:p xmlns:a="http://schemas.openxmlformats.org/drawingml/2006/main">
            <a:r>
              <a:t>产品可在本地运行：streamlit run 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一句话总结：用 AI 把地缘事件转成供应链可量化的风险和可比较的对策。</a:t>
            </a:r>
          </a:p>
          <a:p xmlns:a="http://schemas.openxmlformats.org/drawingml/2006/main">
            <a:r>
              <a:t>与指南附录一风险框架中“供应链生态网络的因果级联传导不确定性”对应。</a:t>
            </a:r>
          </a:p>
          <a:p xmlns:a="http://schemas.openxmlformats.org/drawingml/2006/main">
            <a:r>
              <a:t>数据与结论边界见 docs/test_cases.md。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本页问题概述来自指南附录一“风险框架与参考方向”以及公开可见的供应链风险讨论，不引用具体企业。</a:t>
            </a:r>
          </a:p>
          <a:p xmlns:a="http://schemas.openxmlformats.org/drawingml/2006/main">
            <a:r>
              <a:t>核心是评审点“用户场景与痛点是否有意义”。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场景取自指南附录二模拟企业的关键依赖设定（编码器、芯片、相机、订单）。</a:t>
            </a:r>
          </a:p>
          <a:p xmlns:a="http://schemas.openxmlformats.org/drawingml/2006/main">
            <a:r>
              <a:t>全部企业名、供应商、订单与事件均为虚构。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痛点来自产品设计方案文档与模拟企业场景归纳，用于回答“用户要完成的任务与痛点”。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现状与不足是基于目标用户常见工作方式的概括，用于引出产品定位。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雷达闭环 = 建模、感知、评估、推演，强调迭代而非一次性报告。</a:t>
            </a:r>
          </a:p>
          <a:p xmlns:a="http://schemas.openxmlformats.org/drawingml/2006/main">
            <a:r>
              <a:t>对应指南中“真实可交互”与“AI 合理使用”两条评审点。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用在结构化抽取、参数化和摘要，不代替专业判断。</a:t>
            </a:r>
          </a:p>
          <a:p xmlns:a="http://schemas.openxmlformats.org/drawingml/2006/main">
            <a:r>
              <a:t>评审关注“数据与 AI 边界”，对应案例 C/D 的保守策略。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截图来自本地运行的 Streamlit 应用第 2 页“依赖图谱”。</a:t>
            </a:r>
          </a:p>
          <a:p xmlns:a="http://schemas.openxmlformats.org/drawingml/2006/main">
            <a:r>
              <a:t>图中 9 节点、11 条边为模拟企业数据；上游不明以红色虚线表达。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核心模块为 chainshield/signals.py、llm.py、ingest.py。</a:t>
            </a:r>
          </a:p>
          <a:p xmlns:a="http://schemas.openxmlformats.org/drawingml/2006/main">
            <a:r>
              <a:t>截图为应用第 5 页；RSS 为真实抓取，样例源和事件内容均为模拟。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权重与叠加公式见 chainshield/risk.py，反事实校验见 chainshield/validation.py。</a:t>
            </a:r>
          </a:p>
          <a:p xmlns:a="http://schemas.openxmlformats.org/drawingml/2006/main">
            <a:r>
              <a:t>DEP-02 为模拟工业控制芯片，上游授权关系不明，故信息可见性风险满分。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推演引擎为 chainshield/scenario.py；截图来自应用第 4 页。</a:t>
            </a:r>
          </a:p>
          <a:p xmlns:a="http://schemas.openxmlformats.org/drawingml/2006/main">
            <a:r>
              <a:t>第 17 周末归零、第 18 周首次缺口来自当前模拟种子数据，测试口径见 docs/test_cases.md。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方案成本是数量级示意，不构成经营建议；比较逻辑见 app.py 方案比较页与 scripts/cases.py。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A/B 的推演参数和结果来自 scripts/cases.py，验收口径见 docs/test_cases.md。</a:t>
            </a:r>
          </a:p>
          <a:p xmlns:a="http://schemas.openxmlformats.org/drawingml/2006/main">
            <a:r>
              <a:t>三批订单交付期第 8/12/16 周，均早于首次缺口，因此“现有订单不受影响”是符合赛题设定的结论。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C/D 为边界演示核心，回应评审点“边界意识：数据、证据与 AI 生成内容”。</a:t>
            </a:r>
          </a:p>
          <a:p xmlns:a="http://schemas.openxmlformats.org/drawingml/2006/main">
            <a:r>
              <a:t>相关行为见 chainshield/risk.py、scenario.py 与 app.py 第 6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测试记录见 docs/test_cases.md 与 docs/iteration_log.md。</a:t>
            </a:r>
          </a:p>
          <a:p xmlns:a="http://schemas.openxmlformats.org/drawingml/2006/main">
            <a:r>
              <a:t>已知局限已在 README 与产品中披露，不隐藏模拟数据属性。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beca9a29044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a8c3c74bc45b7" /><Relationship Type="http://schemas.openxmlformats.org/officeDocument/2006/relationships/slideLayout" Target="/ppt/slideLayouts/slideLayout1.xml" Id="Rd2f4044ba12a43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4044ba12a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78499573347c5" /><Relationship Type="http://schemas.openxmlformats.org/officeDocument/2006/relationships/notesSlide" Target="/ppt/notesSlides/notesSlide1.xml" Id="R134590cc752b44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9b40637fb4721" /><Relationship Type="http://schemas.openxmlformats.org/officeDocument/2006/relationships/notesSlide" Target="/ppt/notesSlides/notesSlide2.xml" Id="R33ec521e52054f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3ab16ece44b44" /><Relationship Type="http://schemas.openxmlformats.org/officeDocument/2006/relationships/notesSlide" Target="/ppt/notesSlides/notesSlide3.xml" Id="R21e81b9128e3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153b54acb474f" /><Relationship Type="http://schemas.openxmlformats.org/officeDocument/2006/relationships/notesSlide" Target="/ppt/notesSlides/notesSlide4.xml" Id="R9f24e88effc341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d20d2c76b4109" /><Relationship Type="http://schemas.openxmlformats.org/officeDocument/2006/relationships/notesSlide" Target="/ppt/notesSlides/notesSlide5.xml" Id="Rcf3433c07688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054e9f4b941e3" /><Relationship Type="http://schemas.openxmlformats.org/officeDocument/2006/relationships/notesSlide" Target="/ppt/notesSlides/notesSlide6.xml" Id="R9a9499d81f3e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bb5b43681486f" /><Relationship Type="http://schemas.openxmlformats.org/officeDocument/2006/relationships/notesSlide" Target="/ppt/notesSlides/notesSlide7.xml" Id="Rc33dba0e938f4e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7eceb21f64385" /><Relationship Type="http://schemas.openxmlformats.org/officeDocument/2006/relationships/notesSlide" Target="/ppt/notesSlides/notesSlide8.xml" Id="Rca6c632ec60c42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40cd230374ac0" /><Relationship Type="http://schemas.openxmlformats.org/officeDocument/2006/relationships/image" Target="/ppt/media/image.png" Id="R110d04fad7574b7d" /><Relationship Type="http://schemas.openxmlformats.org/officeDocument/2006/relationships/notesSlide" Target="/ppt/notesSlides/notesSlide9.xml" Id="R55f653332a0f44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50d72b9f4bec" /><Relationship Type="http://schemas.openxmlformats.org/officeDocument/2006/relationships/image" Target="/ppt/media/image2.png" Id="Rc64d9b527a1d4bb1" /><Relationship Type="http://schemas.openxmlformats.org/officeDocument/2006/relationships/notesSlide" Target="/ppt/notesSlides/notesSlide10.xml" Id="R5adb30f7885348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2fcbced54a88" /><Relationship Type="http://schemas.openxmlformats.org/officeDocument/2006/relationships/image" Target="/ppt/media/image3.png" Id="Rb8defb04a1e94ff3" /><Relationship Type="http://schemas.openxmlformats.org/officeDocument/2006/relationships/notesSlide" Target="/ppt/notesSlides/notesSlide11.xml" Id="R23aec96cc50c40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1e5d382b04549" /><Relationship Type="http://schemas.openxmlformats.org/officeDocument/2006/relationships/image" Target="/ppt/media/image4.png" Id="R32e77e4cd4d4481a" /><Relationship Type="http://schemas.openxmlformats.org/officeDocument/2006/relationships/notesSlide" Target="/ppt/notesSlides/notesSlide12.xml" Id="Rb6c870f34bb849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b11b47f044a68" /><Relationship Type="http://schemas.openxmlformats.org/officeDocument/2006/relationships/notesSlide" Target="/ppt/notesSlides/notesSlide13.xml" Id="R75a35e59b51d49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6908447c843f4" /><Relationship Type="http://schemas.openxmlformats.org/officeDocument/2006/relationships/image" Target="/ppt/media/image5.png" Id="Re525bd3ecd6c4a5c" /><Relationship Type="http://schemas.openxmlformats.org/officeDocument/2006/relationships/notesSlide" Target="/ppt/notesSlides/notesSlide14.xml" Id="R73e62ffa94d543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2862deaaa4988" /><Relationship Type="http://schemas.openxmlformats.org/officeDocument/2006/relationships/notesSlide" Target="/ppt/notesSlides/notesSlide15.xml" Id="Rb84c20a1e92042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16d9f1c7a4a84" /><Relationship Type="http://schemas.openxmlformats.org/officeDocument/2006/relationships/notesSlide" Target="/ppt/notesSlides/notesSlide16.xml" Id="R322ac5b72145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E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48BB4-B5A4-4A3E-B3D8-0259FF1A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425" b="0">
                <a:solidFill>
                  <a:srgbClr val="B9D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9D3E8"/>
                </a:solidFill>
                <a:latin typeface="Microsoft YaHei"/>
                <a:ea typeface="Microsoft YaHei"/>
                <a:cs typeface="Microsoft YaHei"/>
              </a:rPr>
              <a:t>AI+地缘政治风险高校挑战赛 · 赛道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573F6-16BC-45C0-98DF-53C8D895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B6583-AFCA-4FBF-96A3-AE70BF03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A7786-F8EF-4E6E-9176-6638333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A9CC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9CCE6"/>
                </a:solidFill>
                <a:latin typeface="Microsoft YaHei"/>
                <a:ea typeface="Microsoft YaHei"/>
                <a:cs typeface="Microsoft YaHei"/>
              </a:rPr>
              <a:t>供应链地缘风险雷达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80C90-B888-459B-8BE7-104D760F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C9DA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DAE8"/>
                </a:solidFill>
                <a:latin typeface="Microsoft YaHei"/>
                <a:ea typeface="Microsoft YaHei"/>
                <a:cs typeface="Microsoft YaHei"/>
              </a:rPr>
              <a:t>面向高端智能装备企业的地缘风险识别、量化与情景推演工具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157FB-76D0-4053-8E01-6376AC0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425" b="0">
                <a:solidFill>
                  <a:srgbClr val="DCE7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7F0"/>
                </a:solidFill>
                <a:latin typeface="Microsoft YaHei"/>
                <a:ea typeface="Microsoft YaHei"/>
                <a:cs typeface="Microsoft YaHei"/>
              </a:rPr>
              <a:t>西北民族大学    陈冶希、李宇欣</a:t>
            </a:r>
          </a:p>
        </p:txBody>
      </p:sp>
    </p:spTree>
    <p:extLst>
      <p:ext uri="{BB962C8B-B14F-4D97-AF65-F5344CB8AC3E}">
        <p14:creationId xmlns:p14="http://schemas.microsoft.com/office/powerpoint/2010/main" val="299747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1D3C8-1E00-4571-844D-36AAF876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项目摘要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AB853-9115-4949-A2E2-42C853E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5A2A5-8A8E-43D2-BF3A-06B0928B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1550-1AE8-4BF5-80F7-0A6B66A1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AI 帮助采购与供应链管理者看清依赖、感知信号、量化暴露、推演断供、比较对策。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680A7-370B-4F7E-94C1-C01804C0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可运行 Web 应用：六个页面覆盖概览、图谱、暴露度、推演、信号与案例，本地一键启动、可交互演示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五因子暴露度评估：集中度、事件强度、可替代性、库存缓冲与信息可见性加权计分，构成逐项透明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情景推演与方案比较：计入在途订单和持续补货，支持多事件叠加与加库存、替代、组合、排产协商对比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赛题连接：聚焦供应链生态网络的因果级联传导不确定性，是地缘政治风险分析的行动推演应用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EDFE3-E23E-4999-BC17-22F64BA9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050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rPr>
              <a:t>演示企业与风险事件均为赛题虚构（XX 智能装备有限公司），不对应现实实体。</a:t>
            </a:r>
          </a:p>
        </p:txBody>
      </p:sp>
    </p:spTree>
    <p:extLst>
      <p:ext uri="{BB962C8B-B14F-4D97-AF65-F5344CB8AC3E}">
        <p14:creationId xmlns:p14="http://schemas.microsoft.com/office/powerpoint/2010/main" val="2098937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D4652-FD85-4B94-BB3E-EB098848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地缘政治风险正在改写供应链规则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B1FBC-5339-4BF3-9438-8AB670D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DEDB4-7400-4668-92DB-34C6082B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76146-1265-4F67-843D-C8EA12C9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8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出口管制、航运中断与“技术阵营化”把关键件交期从数周拉长到数月，断供与违约风险上升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8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中小制造企业普遍“看不到、算不出、来不及”：信息分散、依赖不透明、缺少推演能力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8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依赖关系不透明，只能看见直接供应商，上游授权关系常是盲区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8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风险信号分散在政策文件、新闻、供应商函件中，人工跟踪成本高且容易遗漏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8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影响无法量化，说不清哪个环节最危险、库存能撑多久、哪套对策更稳妥</a:t>
            </a:r>
          </a:p>
        </p:txBody>
      </p:sp>
    </p:spTree>
    <p:extLst>
      <p:ext uri="{BB962C8B-B14F-4D97-AF65-F5344CB8AC3E}">
        <p14:creationId xmlns:p14="http://schemas.microsoft.com/office/powerpoint/2010/main" val="1175347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5D656-C65D-4725-A308-E4A023A8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目标用户与使用场景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107D2-52A4-48F8-80EF-1AC520DF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18716-B716-429F-954A-63A3127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16495-0C3C-4356-A579-64DFADDB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三类核心用户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95C98-E7FE-4EA3-81D5-EE18F693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4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采购与供应链管理者：识别最易受冲击的依赖，评估替代来源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生产管理者：判断库存可支撑周数与订单排产影响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战略部门：跟踪政策与运输变化，提前调整备货与供应策略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9F651-8084-4B26-AF54-5A2FBF46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90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模拟场景（虚构企业）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ED39A-2976-48F1-9D76-A2CA049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5238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三条关键进口依赖：日本编码器、新加坡经销芯片、德国工业相机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出口审查收紧后，关键件交期由 8 周量级升至 20 周量级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关键件安全库存约 12 周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未来四个月有 3 批国内外订单待交付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6767A-D940-439B-986D-7DA15ED5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050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rPr>
              <a:t>模拟企业为“XX 智能装备有限公司”，数据仅供演示，不代表现实经营情况。</a:t>
            </a:r>
          </a:p>
        </p:txBody>
      </p:sp>
    </p:spTree>
    <p:extLst>
      <p:ext uri="{BB962C8B-B14F-4D97-AF65-F5344CB8AC3E}">
        <p14:creationId xmlns:p14="http://schemas.microsoft.com/office/powerpoint/2010/main" val="72505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8827A-1537-453E-9731-9F5EBC14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用户要完成的任务与痛点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F15E5-7590-404A-8DA1-B9C1BD0A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FB832-0219-4BA1-B449-9196793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9BD1F-66F9-42B5-8C25-D7732CA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决策任务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82E30-CD8B-4DAA-A8B1-704F0F11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识别哪条关键依赖最脆弱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判断风险信号对交期与供应的实际影响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决定加库存、启动替代或与客户协商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跟进不确定信息，避免把传闻当事实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E2C5F-58F9-4A29-937D-BF9BEB76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906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任务做不下去的四个痛点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B5C5D-FD5B-46CE-BDEC-0E6A6BD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238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上游授权关系不明，看不见二级供应商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采购、生产、销售数据彼此割裂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风险信号多而杂，人工跟踪容易漏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暴露程度与对策效果难以量化，决策靠经验</a:t>
            </a:r>
          </a:p>
        </p:txBody>
      </p:sp>
    </p:spTree>
    <p:extLst>
      <p:ext uri="{BB962C8B-B14F-4D97-AF65-F5344CB8AC3E}">
        <p14:creationId xmlns:p14="http://schemas.microsoft.com/office/powerpoint/2010/main" val="1731548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9DE4-DA9D-476C-AB76-9C33AAAF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现有解决方式与不足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705AF-BAEF-4E62-BF43-6C7C58E5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FDCBF-0F65-4580-8589-45DD76D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B7AD0-1365-4EBC-8E18-84EFB50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现在主要靠台账、邮件和订阅报告，信息是静态、滞后的。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677150"/>
              </a:tblGrid>
              <a:tr h="7381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现有方式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台账与邮件通报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更新靠人工，跨部门版本不一致，风险发生时响应慢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咨询与行业报告订阅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更新周期长，无法逐事件回答“对我们影响有多大”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人工经验判断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难以量化暴露度，也难以比较加库存、替代、协商等方案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FECDB-EE4B-4C37-97BE-808B870F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需要的是把持续监测、量化暴露与情景推演放到一个工作流里的工具。</a:t>
            </a:r>
          </a:p>
        </p:txBody>
      </p:sp>
    </p:spTree>
    <p:extLst>
      <p:ext uri="{BB962C8B-B14F-4D97-AF65-F5344CB8AC3E}">
        <p14:creationId xmlns:p14="http://schemas.microsoft.com/office/powerpoint/2010/main" val="1074997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E015D-4627-42FF-976F-02F38BB3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解决思路：四步雷达闭环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86419-2984-455C-BC3F-410D17E3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AF08E-5732-4B22-B229-8BDA9E69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D8C70-1615-40A9-9013-E2AF4FF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ADD88-41B8-48A8-AE69-38A60D9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依赖建模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3ADAC-B0E1-4FC7-B503-BCBA359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rPr>
              <a:t>把供应商、组件、订单与上游关系整理成可查询的依赖图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246DC-27DC-4ED4-945B-5C0108CA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812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783C8-8440-4943-AB71-592486A1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72BFD-0AD9-41FC-B2C3-D5254DAC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信号感知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50F54-52FC-4446-8610-2AD305C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rPr>
              <a:t>巡检政策、新闻与 RSS 源，由 AI 抽取结构化风险事件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8FC2F-6C26-478B-B670-AD397CB0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DA2B5-AB41-4793-BCE9-B8A900EB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A496E-C101-4A9F-991B-01C9CE48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暴露评估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DE21B-6EAE-40B1-A1C1-8975106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rPr>
              <a:t>用五个可解释因子给每条依赖计算暴露分数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E2722-80F0-4B61-81A0-B1FF3D75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82DE6-230D-41C9-A134-1BC1CBE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547A7-5803-4A5D-B0CF-604FCD1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371CC-836A-4D88-85D2-9DACC4F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A"/>
                </a:solidFill>
                <a:latin typeface="Microsoft YaHei"/>
                <a:ea typeface="Microsoft YaHei"/>
                <a:cs typeface="Microsoft YaHei"/>
              </a:rPr>
              <a:t>推演断供周次、库存曲线，并比较应对方案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10BA9-6C8D-4F38-A624-7C11619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四步循环运转：推演结果暴露数据缺口，缺口再回填到依赖建模与信号源配置。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249BA-F382-47D6-9EC7-4F98610A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900"/>
              </a:spcAft>
              <a:buNone/>
              <a:defRPr sz="13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每一步都保留证据链接与置信度标记，最终判断留给使用者确认</a:t>
            </a:r>
          </a:p>
        </p:txBody>
      </p:sp>
    </p:spTree>
    <p:extLst>
      <p:ext uri="{BB962C8B-B14F-4D97-AF65-F5344CB8AC3E}">
        <p14:creationId xmlns:p14="http://schemas.microsoft.com/office/powerpoint/2010/main" val="1043508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3CCCF-3C77-4C15-80CF-D13E2A5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AI 的角色与人机协作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1B200-07FD-4855-B6C9-785ECF2B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E93CD-2972-47E2-811B-3C3B3975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17864-F3D3-4015-8521-E2A91801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AI 承担的工作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7419C-2125-45A9-AF0A-0FC96766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把政策、新闻与函件文本结构化，抽取事件要素与来源链接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对抽取结果标注状态与置信度，未确认的信息不进入结论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评分、推演与方案比较采用确定性规则，输出可复现、可复核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FC60D-3CBE-4E70-ADF4-2488C39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边界与人工把关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9C0DF-478E-4256-BF3A-4215623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事实、推断与待核实分开标注，低置信度内容不进入评分和推演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上游信息缺失时不编造结论，输出索取授权链与尽调建议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交期、库存、替代周期等参数由使用者校准，重大决策保留人工确认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42970-C13B-418C-9520-8ED7AA9D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AI 把非结构化信息整理成可复核的结构化依据；最终判断由使用者确认。</a:t>
            </a:r>
          </a:p>
        </p:txBody>
      </p:sp>
    </p:spTree>
    <p:extLst>
      <p:ext uri="{BB962C8B-B14F-4D97-AF65-F5344CB8AC3E}">
        <p14:creationId xmlns:p14="http://schemas.microsoft.com/office/powerpoint/2010/main" val="1490980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BBCE0-1379-4CF9-A6D1-A654D01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核心功能一：供应链依赖建模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5EB40-51E6-4AC0-9A7A-E6B8080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4BA5F-341C-49A6-B414-FFDC67A1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75228-34CE-44DA-A871-E75EFD2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把“供应商、组件、订单”整理成多级依赖图谱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标注采购份额、当前交期、库存周数与可替代性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集中度指标帮助定位单源、单国依赖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上游授权关系不明时用红色虚线标出，明确信息缺口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d04fad7574b7d"/>
          <a:stretch xmlns:a="http://schemas.openxmlformats.org/drawingml/2006/main"/>
        </p:blipFill>
        <p:spPr>
          <a:xfrm xmlns:a="http://schemas.openxmlformats.org/drawingml/2006/main">
            <a:off x="5966343" y="1428750"/>
            <a:ext cx="5536163" cy="3390900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CD871-F04D-4412-B6D6-DFA30AE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550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rPr>
              <a:t>本地运行版本：依赖图谱页实拍，数据场景虚构</a:t>
            </a:r>
          </a:p>
        </p:txBody>
      </p:sp>
    </p:spTree>
    <p:extLst>
      <p:ext uri="{BB962C8B-B14F-4D97-AF65-F5344CB8AC3E}">
        <p14:creationId xmlns:p14="http://schemas.microsoft.com/office/powerpoint/2010/main" val="762901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8CCEC-D4A9-4BD4-A60D-F5EA597D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核心功能二：风险信号雷达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086FD-573F-45DC-8AFE-694A7F78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6D5A-FAC1-455C-B909-42C3F85F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1240-AA19-493B-90C6-F5FE146E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巡检模拟样例源与 RSS/Atom 源，把文本送入事件抽取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AI 抽取主体、国家、措施、影响对象与来源链接，结构化为事件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按“标题 + 日期”去重写入事件库，命中依赖时参与评估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配置 API Key 走真实模型；无 Key 时自动离线占位并标记待核实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d9b527a1d4bb1"/>
          <a:stretch xmlns:a="http://schemas.openxmlformats.org/drawingml/2006/main"/>
        </p:blipFill>
        <p:spPr>
          <a:xfrm xmlns:a="http://schemas.openxmlformats.org/drawingml/2006/main">
            <a:off x="5966343" y="1428750"/>
            <a:ext cx="5536163" cy="3390900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F352D-666D-45B6-B5C3-BE362978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550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rPr>
              <a:t>本地运行版本：事件库与信号导入页实拍</a:t>
            </a:r>
          </a:p>
        </p:txBody>
      </p:sp>
    </p:spTree>
    <p:extLst>
      <p:ext uri="{BB962C8B-B14F-4D97-AF65-F5344CB8AC3E}">
        <p14:creationId xmlns:p14="http://schemas.microsoft.com/office/powerpoint/2010/main" val="1603559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AB5D3-0E26-4C70-9BA0-6C90AE1F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核心功能三：暴露度评估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32EC1-C40C-41CB-AF9C-395ACF3C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015D-4F13-49D0-BFE1-2318555C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754AD-34D7-4F6C-8DCD-EDDA314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42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综合暴露度 = 集中度20% + 事件强度25% + 可替代性20% + 库存缓冲15% + 信息可见性20%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32DCC-A517-486E-A465-9B443F7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事件强度按多事件叠加衰减公式计算，不简单相加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输出综合分数、风险等级与主要风险因子，分数构成逐项可见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界面可调整权重并查看敏感性，反事实案例校验 4/4 通过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4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模拟数据结果：芯片 DEP-02 71.5 分（高），主因信息可见性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efb04a1e94ff3"/>
          <a:stretch xmlns:a="http://schemas.openxmlformats.org/drawingml/2006/main"/>
        </p:blipFill>
        <p:spPr>
          <a:xfrm xmlns:a="http://schemas.openxmlformats.org/drawingml/2006/main">
            <a:off x="6168507" y="2190750"/>
            <a:ext cx="5131837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9D2D0-9612-4578-B8F2-C4D51F19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29250"/>
            <a:ext cx="550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rPr>
              <a:t>本地运行版本：暴露度评估页（权重调节与敏感性检查）</a:t>
            </a:r>
          </a:p>
        </p:txBody>
      </p:sp>
    </p:spTree>
    <p:extLst>
      <p:ext uri="{BB962C8B-B14F-4D97-AF65-F5344CB8AC3E}">
        <p14:creationId xmlns:p14="http://schemas.microsoft.com/office/powerpoint/2010/main" val="377220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486AD-2C39-425A-997B-69A5469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核心功能四：情景推演器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DC6A-1B02-4CB4-95DC-25E560E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BE701-7330-44C4-87D5-9E6EFADB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4F12F-9AB5-4011-9145-2A16AB0C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5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按“库存 + 在途订单 + 持续补货”逐周推演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5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输出断供周次、库存消耗曲线、订单状态与风险提示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5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多事件命中同一依赖时自动合并冲击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5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待核实事件默认不参与推演，只作为显式假设分析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A6C3F-ACB1-46CF-9EA0-641B2038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案例结果：DEP-01 第 17 周末库存恰好归零，第 18 周首次出现当周缺口；现有 3 批订单在第 8/12/16 周交付。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77e4cd4d4481a"/>
          <a:stretch xmlns:a="http://schemas.openxmlformats.org/drawingml/2006/main"/>
        </p:blipFill>
        <p:spPr>
          <a:xfrm xmlns:a="http://schemas.openxmlformats.org/drawingml/2006/main">
            <a:off x="5966343" y="1428750"/>
            <a:ext cx="5536163" cy="3390900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98FE4-4862-4C53-85F9-20C1C727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550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rPr>
              <a:t>本地运行版本：情景推演页实拍</a:t>
            </a:r>
          </a:p>
        </p:txBody>
      </p:sp>
    </p:spTree>
    <p:extLst>
      <p:ext uri="{BB962C8B-B14F-4D97-AF65-F5344CB8AC3E}">
        <p14:creationId xmlns:p14="http://schemas.microsoft.com/office/powerpoint/2010/main" val="1006776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59AF-3EBB-4135-94C8-FC65DB8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核心功能五：应对方案比较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AED7E-AF9B-44D9-985A-ADF7E5B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775D8-9E83-454A-B598-79DEBA2A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2381250"/>
                <a:gridCol w="2381250"/>
                <a:gridCol w="4629150"/>
              </a:tblGrid>
              <a:tr h="67056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思路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适用时点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加库存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提前锁定缓冲用量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信号初现且资金可腾挪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替代供应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启动国产替代认证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认证与样品费用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替代准备时间足够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暂存缓冲与替代并行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两者之和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断供临近、窗口不足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排产协商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与客户调整交付顺序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商务成本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订单集中、短期难补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A580-9B3D-425E-95ED-036B02E0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模拟推演：替代约第 18 周就绪，与 DEP-01 首次缺口同一窗口；组合方案更能覆盖认证过渡期。成本与周期为数量级示意。</a:t>
            </a:r>
          </a:p>
        </p:txBody>
      </p:sp>
    </p:spTree>
    <p:extLst>
      <p:ext uri="{BB962C8B-B14F-4D97-AF65-F5344CB8AC3E}">
        <p14:creationId xmlns:p14="http://schemas.microsoft.com/office/powerpoint/2010/main" val="409948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3341E-0D4B-4ED3-9DEE-C41FD902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实际用例演示（A / B）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786C6-0716-4FA2-84F4-09E019E9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2FEC2-1F6A-4053-832A-A078D5B5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0A0ED-E648-4B5A-89BB-5248826A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案例 A：日本编码器出口审查收紧，交期升至 20 周，第 17 周末库存归零、第 18 周首次缺口，三批现有订单在此前完成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案例 B：红海航运风险经新加坡传导，芯片在途延误 4 周、新交期 20 周，跨组件影响被量化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两个案例都触发“断供后新增订单无缓冲”提示，并进入方案比较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600"/>
              </a:spcAft>
              <a:buNone/>
              <a:def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演示口径保持克制，不夸大为“现有订单受损”，明确系统边界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5bd3ecd6c4a5c"/>
          <a:stretch xmlns:a="http://schemas.openxmlformats.org/drawingml/2006/main"/>
        </p:blipFill>
        <p:spPr>
          <a:xfrm xmlns:a="http://schemas.openxmlformats.org/drawingml/2006/main">
            <a:off x="5966343" y="1428750"/>
            <a:ext cx="5536163" cy="3390900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6EEE9-F55E-4BFF-BF8F-C62D10F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550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E93A5"/>
                </a:solidFill>
                <a:latin typeface="Microsoft YaHei"/>
                <a:ea typeface="Microsoft YaHei"/>
                <a:cs typeface="Microsoft YaHei"/>
              </a:rPr>
              <a:t>本地运行版本：案例与边界演示页实拍</a:t>
            </a:r>
          </a:p>
        </p:txBody>
      </p:sp>
    </p:spTree>
    <p:extLst>
      <p:ext uri="{BB962C8B-B14F-4D97-AF65-F5344CB8AC3E}">
        <p14:creationId xmlns:p14="http://schemas.microsoft.com/office/powerpoint/2010/main" val="18459628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42033-852A-4B94-ABE2-4C7A643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边界案例演示与 AI 可信边界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86C08-0E09-4719-A2A6-A3C42547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4DFB0-6C34-46A5-825A-6244037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CB4B-1208-4CBA-A082-3F7B68C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20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案例 C：芯片上游授权关系不明，系统给出信息可见性满分并明确“高不确定性”，建议索取授权链或人工尽调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20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案例 D：美国出口限制仅为低置信度报道，系统将其归入“待核实”，不参与评分与推演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20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默认策略保守：宁可少下结论，也不把不确定报道当作事实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2000"/>
              </a:spcAft>
              <a:buNone/>
              <a:def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系统失效与人工接管点：冲突报道仍需人工结构化；交期、库存与替代周期等输入需使用者校准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CDC6E-C992-46E4-A086-851E0679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系统把“哪些证据支持结论、哪些仍待核实”摊开给使用者，而不是输出黑盒判断。</a:t>
            </a:r>
          </a:p>
        </p:txBody>
      </p:sp>
    </p:spTree>
    <p:extLst>
      <p:ext uri="{BB962C8B-B14F-4D97-AF65-F5344CB8AC3E}">
        <p14:creationId xmlns:p14="http://schemas.microsoft.com/office/powerpoint/2010/main" val="14242256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B657D-0DDE-4166-9D72-4AA6C877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2E4C"/>
                </a:solidFill>
                <a:latin typeface="Microsoft YaHei"/>
                <a:ea typeface="Microsoft YaHei"/>
                <a:cs typeface="Microsoft YaHei"/>
              </a:rPr>
              <a:t>测试、迭代与已知局限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2E9F3-3B5E-42A9-945B-EB3ED77C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E00DF-732B-4736-BBEE-7BAB60B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3A6B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333500"/>
          <a:ext xmlns:a="http://schemas.openxmlformats.org/drawingml/2006/main" cx="10820400" cy="2095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6343650"/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验证项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0E2E4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 A–D 自动化回归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 项断言全部 PASS（scripts/cases.py）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暴露度敏感性与反事实校验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4/4 PASS（chainshield/validation.py）</a:t>
                      </a:r>
                    </a:p>
                  </a:txBody>
                  <a:tcPr marL="91440" marR="91440" marT="45720" marB="45720" anchor="ctr">
                    <a:solidFill>
                      <a:srgbClr val="F2F7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冒烟演示与六个界面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全部可运行，无运行异常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A9F90-C0BA-4323-BB3A-9515A0B7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局限：当前使用赛题虚构的模拟数据，不代表真实企业情况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局限：同一议题的冲突报道尚无专门消解模型，采用保守降级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局限：推演依赖交期、库存与替代周期假设，需要使用者校准</a:t>
            </a:r>
          </a:p>
          <a:p xmlns:a="http://schemas.openxmlformats.org/drawingml/2006/main">
            <a:pPr marL="266700" indent="-139700">
              <a:lnSpc>
                <a:spcPct val="124000"/>
              </a:lnSpc>
              <a:spcAft>
                <a:spcPts val="1200"/>
              </a:spcAft>
              <a:buNone/>
              <a:def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D3A"/>
                </a:solidFill>
                <a:latin typeface="Microsoft YaHei"/>
                <a:ea typeface="Microsoft YaHei"/>
                <a:cs typeface="Microsoft YaHei"/>
              </a:rPr>
              <a:t>后续：接入真实公开数据、多来源冲突消解、按企业定制</a:t>
            </a:r>
          </a:p>
        </p:txBody>
      </p:sp>
    </p:spTree>
    <p:extLst>
      <p:ext uri="{BB962C8B-B14F-4D97-AF65-F5344CB8AC3E}">
        <p14:creationId xmlns:p14="http://schemas.microsoft.com/office/powerpoint/2010/main" val="209860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2026-09-10T11:05:12.0920000Z</dcterms:created>
  <dcterms:modified xsi:type="dcterms:W3CDTF">2026-09-10T11:05:12.0920000Z</dcterms:modified>
</coreProperties>
</file>